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34" r:id="rId3"/>
    <p:sldId id="257" r:id="rId4"/>
    <p:sldId id="384" r:id="rId5"/>
    <p:sldId id="385" r:id="rId6"/>
    <p:sldId id="374" r:id="rId7"/>
    <p:sldId id="386" r:id="rId8"/>
    <p:sldId id="387" r:id="rId9"/>
    <p:sldId id="361" r:id="rId10"/>
    <p:sldId id="362" r:id="rId11"/>
    <p:sldId id="375" r:id="rId12"/>
    <p:sldId id="376" r:id="rId13"/>
    <p:sldId id="388" r:id="rId14"/>
    <p:sldId id="377" r:id="rId15"/>
    <p:sldId id="378" r:id="rId16"/>
    <p:sldId id="379" r:id="rId17"/>
    <p:sldId id="389" r:id="rId18"/>
    <p:sldId id="380" r:id="rId19"/>
    <p:sldId id="390" r:id="rId20"/>
    <p:sldId id="381" r:id="rId21"/>
    <p:sldId id="32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3965"/>
    <a:srgbClr val="203864"/>
    <a:srgbClr val="FFFFFF"/>
    <a:srgbClr val="F2F2F2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0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E66EE-7364-4AAB-933C-3CDF0647D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B78D6F-9F46-49EF-89ED-8DA32EB8B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24BAB4-B387-493F-8178-3886F8022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7D6-BC93-4696-B3DE-D40BB2C401DF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A2C9B2-21FC-4570-BC10-936464480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B1A92A-5948-4B61-A441-2FA2558A8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75F7F-69D7-4180-8681-3C60A2BE4F8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0482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DB266-DD7C-4BC4-8CAE-DC37A6F64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58341E-FD18-471C-AE85-CA1D89D8B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466313-22E9-4659-9AA8-55D4DF1A5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7D6-BC93-4696-B3DE-D40BB2C401DF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023792-A939-4117-93DA-642A3314E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C93AD2-C7ED-4E99-BE27-000A5BF4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75F7F-69D7-4180-8681-3C60A2BE4F8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7101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998F5-B388-4404-A4D0-5C97ACB7A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CE3B5B-A453-4B9E-8904-837E6D9D8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1A8F0A-720B-44B4-AC91-31038C65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7D6-BC93-4696-B3DE-D40BB2C401DF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D705E9-CA99-4503-A888-0BF62877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018ABB-2359-4E54-8E48-A01316F7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75F7F-69D7-4180-8681-3C60A2BE4F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655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608B0-EEB9-4657-B9CE-EB9CEB736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5FECB-D7DC-4550-9E2A-F5BC41706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469E09-8735-4E83-B272-2FB1ECFEC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18439C-41BF-4296-AE93-EFE700309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7D6-BC93-4696-B3DE-D40BB2C401DF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B7236B-6BA0-4B82-9E91-07D1A2D23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74F01A-6026-4F3D-894A-3B49BDC7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75F7F-69D7-4180-8681-3C60A2BE4F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076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E26D3-7BA1-4BBF-8385-52B55065C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70454-CB58-4E8E-9475-2BD9EACD2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B1943B-6271-4AF9-955E-041EB66E9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E8A15C-9206-4D2B-9809-C0E47190F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B5EFBD-D8A3-40B5-8B93-C40D7EAAC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1DA7FD-E44D-4D65-A1A9-83AC03764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7D6-BC93-4696-B3DE-D40BB2C401DF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8EAF27F-D2DB-4DBF-B1E3-556C1552E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5A3435-3D72-4CB3-B49D-12FD1C79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75F7F-69D7-4180-8681-3C60A2BE4F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27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885AD-C9E4-4F44-971D-9DB20ABCA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8EE8B5-4DD3-462C-855C-131DB8400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7D6-BC93-4696-B3DE-D40BB2C401DF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C984F9-A523-4D80-A197-6836EA881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C4E2F7-94F7-4690-B7FC-B4C0B567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75F7F-69D7-4180-8681-3C60A2BE4F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585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9C0116-56FE-419D-8704-099B39C8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7D6-BC93-4696-B3DE-D40BB2C401DF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D2016B-29C3-4871-B146-71257C10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BAC5A5-1BC5-45E5-BCDC-F8815022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75F7F-69D7-4180-8681-3C60A2BE4F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44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AD6D7-6A15-4566-9A2C-21B2BCCC5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7F4A16-05CE-46C9-A077-A4542CF62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F8F063-377D-4B85-895D-BE7898B0B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3E97DE-3E54-4632-8F59-222C585F5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7D6-BC93-4696-B3DE-D40BB2C401DF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20B5AB-7E0A-4FFB-A5E1-D7516660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4DB695-0B15-43A0-9964-685842BD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75F7F-69D7-4180-8681-3C60A2BE4F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603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78C67-AFAE-48BE-80B5-427F9575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2CBD3D-91FA-475A-9B1C-4DC22E468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1072F5-78E4-4FC2-8E7C-865039901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CDA0AF-DF50-4A38-BD39-10A972FF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7D6-BC93-4696-B3DE-D40BB2C401DF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EBDB96-B039-44CC-8FEA-EF67A1FB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D611FE-31AF-4D29-A9C7-312E443C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75F7F-69D7-4180-8681-3C60A2BE4F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236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E3F37-4A91-44BB-8048-A72BF566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68D38D-E130-4F1A-83DC-E62C60067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55F183-83BE-4438-AD3D-D34B15F9A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7D6-BC93-4696-B3DE-D40BB2C401DF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5DA14C-6550-4F2D-95EF-E286459E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19B85E-0A58-4DE4-8A9C-CADCB1551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75F7F-69D7-4180-8681-3C60A2BE4F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871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B5E658-8522-4F5A-9330-C2AD09DC0B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439429-1396-408E-B0F3-A2B90562A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784874-F6F8-40EA-A453-40BF1AB8A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7D6-BC93-4696-B3DE-D40BB2C401DF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2804CD-1FB9-4447-A3FA-1DFBFAD0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8F2941-5254-4A5A-94A0-FDAFE646F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75F7F-69D7-4180-8681-3C60A2BE4F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147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97" b="0" i="0">
                <a:solidFill>
                  <a:srgbClr val="585858"/>
                </a:solidFill>
                <a:latin typeface="Trebuchet MS"/>
                <a:cs typeface="Trebuchet MS"/>
              </a:defRPr>
            </a:lvl1pPr>
          </a:lstStyle>
          <a:p>
            <a:pPr marL="34549">
              <a:spcBef>
                <a:spcPts val="23"/>
              </a:spcBef>
            </a:pPr>
            <a:fld id="{81D60167-4931-47E6-BA6A-407CBD079E47}" type="slidenum">
              <a:rPr lang="en-US" altLang="ko-KR" spc="-23" smtClean="0"/>
              <a:pPr marL="34549">
                <a:spcBef>
                  <a:spcPts val="23"/>
                </a:spcBef>
              </a:pPr>
              <a:t>‹#›</a:t>
            </a:fld>
            <a:endParaRPr lang="en-US" altLang="ko-KR" spc="-23" dirty="0"/>
          </a:p>
        </p:txBody>
      </p:sp>
    </p:spTree>
    <p:extLst>
      <p:ext uri="{BB962C8B-B14F-4D97-AF65-F5344CB8AC3E}">
        <p14:creationId xmlns:p14="http://schemas.microsoft.com/office/powerpoint/2010/main" val="309144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7B1788-368F-4FDE-A031-7E9CF6B53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710FED-53B9-4C5D-8C4E-BAEEFC609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E9AEF5-E571-4200-AD8A-451A4A23C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477D6-BC93-4696-B3DE-D40BB2C401DF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3CA00-5D05-44AB-B3A6-9D7047EE3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338CD3-6865-4E28-A6A9-327C04E72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75F7F-69D7-4180-8681-3C60A2BE4F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49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CCCA982-F2D8-40B5-882A-CB277F8BF035}"/>
              </a:ext>
            </a:extLst>
          </p:cNvPr>
          <p:cNvSpPr txBox="1"/>
          <p:nvPr/>
        </p:nvSpPr>
        <p:spPr>
          <a:xfrm>
            <a:off x="0" y="1830109"/>
            <a:ext cx="12191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MLOps</a:t>
            </a:r>
            <a:r>
              <a:rPr lang="en-US" altLang="ko-KR" sz="40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(Azure)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533DA9-9B95-458B-88D1-48CA58CD1CE4}"/>
              </a:ext>
            </a:extLst>
          </p:cNvPr>
          <p:cNvSpPr/>
          <p:nvPr/>
        </p:nvSpPr>
        <p:spPr>
          <a:xfrm>
            <a:off x="328417" y="1533838"/>
            <a:ext cx="11521838" cy="54813"/>
          </a:xfrm>
          <a:prstGeom prst="rect">
            <a:avLst/>
          </a:prstGeom>
          <a:solidFill>
            <a:schemeClr val="tx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FEF6A4-86A2-4124-B7D1-275799D373D2}"/>
              </a:ext>
            </a:extLst>
          </p:cNvPr>
          <p:cNvSpPr txBox="1"/>
          <p:nvPr/>
        </p:nvSpPr>
        <p:spPr>
          <a:xfrm>
            <a:off x="0" y="3382618"/>
            <a:ext cx="121899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ko-KR" sz="20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Industrial Data Analytics Lab</a:t>
            </a:r>
          </a:p>
          <a:p>
            <a:pPr algn="ctr"/>
            <a:endParaRPr lang="en-US" altLang="ko-KR" sz="20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21</a:t>
            </a:r>
            <a:r>
              <a:rPr lang="ko-KR" altLang="en-US" sz="20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20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11</a:t>
            </a:r>
            <a:r>
              <a:rPr lang="ko-KR" altLang="en-US" sz="20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월 </a:t>
            </a:r>
            <a:r>
              <a:rPr lang="ko-KR" altLang="en-US" sz="20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첫째주</a:t>
            </a:r>
            <a:endParaRPr lang="en-US" altLang="ko-KR" sz="20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endParaRPr lang="en-US" altLang="ko-KR" sz="20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20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김나은</a:t>
            </a:r>
            <a:endParaRPr lang="en-US" altLang="ko-KR" sz="20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5AE094-70D8-44CD-9E1F-9C7359757065}"/>
              </a:ext>
            </a:extLst>
          </p:cNvPr>
          <p:cNvSpPr/>
          <p:nvPr/>
        </p:nvSpPr>
        <p:spPr>
          <a:xfrm>
            <a:off x="328417" y="3231151"/>
            <a:ext cx="11521838" cy="54813"/>
          </a:xfrm>
          <a:prstGeom prst="rect">
            <a:avLst/>
          </a:prstGeom>
          <a:solidFill>
            <a:schemeClr val="tx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0DF53FF-AF21-48CF-BB1A-8DCB17B04219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849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49452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DevOps vs </a:t>
            </a:r>
            <a:r>
              <a:rPr lang="en-US" altLang="ko-KR" sz="28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MLOps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25376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6BA4D6-05D8-4FED-9BC7-7498F6422744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">
            <a:extLst>
              <a:ext uri="{FF2B5EF4-FFF2-40B4-BE49-F238E27FC236}">
                <a16:creationId xmlns:a16="http://schemas.microsoft.com/office/drawing/2014/main" id="{9889F31F-DAF2-443E-971A-0365D017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2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8318D4C-0676-4260-B5AC-DDD7EA998715}"/>
              </a:ext>
            </a:extLst>
          </p:cNvPr>
          <p:cNvGrpSpPr/>
          <p:nvPr/>
        </p:nvGrpSpPr>
        <p:grpSpPr>
          <a:xfrm>
            <a:off x="1600265" y="1274940"/>
            <a:ext cx="8991467" cy="3717388"/>
            <a:chOff x="764929" y="1248595"/>
            <a:chExt cx="10662140" cy="440810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C0FC5AB-B832-4CCB-8A05-9FD339B0EA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366" b="10435"/>
            <a:stretch/>
          </p:blipFill>
          <p:spPr>
            <a:xfrm>
              <a:off x="764929" y="1248595"/>
              <a:ext cx="10662140" cy="4408103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614D90E-B55E-4F9C-B972-E66182C85454}"/>
                </a:ext>
              </a:extLst>
            </p:cNvPr>
            <p:cNvSpPr/>
            <p:nvPr/>
          </p:nvSpPr>
          <p:spPr>
            <a:xfrm>
              <a:off x="7242297" y="1871721"/>
              <a:ext cx="1396880" cy="2833630"/>
            </a:xfrm>
            <a:prstGeom prst="rect">
              <a:avLst/>
            </a:prstGeom>
            <a:solidFill>
              <a:srgbClr val="00B0F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D1B8B1E-A95B-4582-9028-D968C1361D1D}"/>
                </a:ext>
              </a:extLst>
            </p:cNvPr>
            <p:cNvSpPr/>
            <p:nvPr/>
          </p:nvSpPr>
          <p:spPr>
            <a:xfrm>
              <a:off x="9039591" y="1871721"/>
              <a:ext cx="1186187" cy="1258674"/>
            </a:xfrm>
            <a:prstGeom prst="rect">
              <a:avLst/>
            </a:prstGeom>
            <a:solidFill>
              <a:srgbClr val="00B0F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ko-KR" altLang="en-US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3769C96-C342-48BC-8ADB-4A17498C9351}"/>
              </a:ext>
            </a:extLst>
          </p:cNvPr>
          <p:cNvSpPr txBox="1"/>
          <p:nvPr/>
        </p:nvSpPr>
        <p:spPr>
          <a:xfrm>
            <a:off x="5054661" y="1871721"/>
            <a:ext cx="1693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FF0000"/>
                </a:solidFill>
              </a:rPr>
              <a:t>&lt;</a:t>
            </a:r>
            <a:r>
              <a:rPr lang="en-US" altLang="ko-KR" sz="2400" b="1" dirty="0" err="1">
                <a:solidFill>
                  <a:srgbClr val="FF0000"/>
                </a:solidFill>
              </a:rPr>
              <a:t>MLOps</a:t>
            </a:r>
            <a:r>
              <a:rPr lang="en-US" altLang="ko-KR" sz="2400" b="1" dirty="0">
                <a:solidFill>
                  <a:srgbClr val="FF0000"/>
                </a:solidFill>
              </a:rPr>
              <a:t>&gt;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말풍선: 타원형 8">
            <a:extLst>
              <a:ext uri="{FF2B5EF4-FFF2-40B4-BE49-F238E27FC236}">
                <a16:creationId xmlns:a16="http://schemas.microsoft.com/office/drawing/2014/main" id="{A9CEA19A-885B-4AFD-AD4A-F527CC1D06B8}"/>
              </a:ext>
            </a:extLst>
          </p:cNvPr>
          <p:cNvSpPr/>
          <p:nvPr/>
        </p:nvSpPr>
        <p:spPr>
          <a:xfrm>
            <a:off x="1190623" y="2518681"/>
            <a:ext cx="1371600" cy="611714"/>
          </a:xfrm>
          <a:prstGeom prst="wedgeEllipseCallout">
            <a:avLst>
              <a:gd name="adj1" fmla="val 1234"/>
              <a:gd name="adj2" fmla="val 100243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코드 컴파일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&amp; </a:t>
            </a:r>
            <a:r>
              <a:rPr lang="ko-KR" altLang="en-US" sz="1200" dirty="0">
                <a:solidFill>
                  <a:schemeClr val="tx1"/>
                </a:solidFill>
              </a:rPr>
              <a:t>테스트</a:t>
            </a:r>
          </a:p>
        </p:txBody>
      </p:sp>
      <p:sp>
        <p:nvSpPr>
          <p:cNvPr id="16" name="말풍선: 타원형 15">
            <a:extLst>
              <a:ext uri="{FF2B5EF4-FFF2-40B4-BE49-F238E27FC236}">
                <a16:creationId xmlns:a16="http://schemas.microsoft.com/office/drawing/2014/main" id="{6345E2CF-EEF0-420F-B750-FE723E72B3E7}"/>
              </a:ext>
            </a:extLst>
          </p:cNvPr>
          <p:cNvSpPr/>
          <p:nvPr/>
        </p:nvSpPr>
        <p:spPr>
          <a:xfrm>
            <a:off x="2867025" y="2518681"/>
            <a:ext cx="1693615" cy="611714"/>
          </a:xfrm>
          <a:prstGeom prst="wedgeEllipseCallout">
            <a:avLst>
              <a:gd name="adj1" fmla="val 1234"/>
              <a:gd name="adj2" fmla="val 100243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패키징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운영서비스로 배포</a:t>
            </a:r>
            <a:r>
              <a:rPr lang="en-US" altLang="ko-KR" sz="1200" dirty="0">
                <a:solidFill>
                  <a:schemeClr val="tx1"/>
                </a:solidFill>
              </a:rPr>
              <a:t>(Deploy)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말풍선: 타원형 21">
            <a:extLst>
              <a:ext uri="{FF2B5EF4-FFF2-40B4-BE49-F238E27FC236}">
                <a16:creationId xmlns:a16="http://schemas.microsoft.com/office/drawing/2014/main" id="{C816B3FF-FAAF-4CAA-B6B8-420FC10345BD}"/>
              </a:ext>
            </a:extLst>
          </p:cNvPr>
          <p:cNvSpPr/>
          <p:nvPr/>
        </p:nvSpPr>
        <p:spPr>
          <a:xfrm>
            <a:off x="7469753" y="3834475"/>
            <a:ext cx="1697548" cy="498483"/>
          </a:xfrm>
          <a:prstGeom prst="wedgeEllipseCallout">
            <a:avLst>
              <a:gd name="adj1" fmla="val -23247"/>
              <a:gd name="adj2" fmla="val -88379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+ </a:t>
            </a:r>
            <a:r>
              <a:rPr lang="ko-KR" altLang="en-US" sz="1200" dirty="0">
                <a:solidFill>
                  <a:schemeClr val="tx1"/>
                </a:solidFill>
              </a:rPr>
              <a:t>모델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만들고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실험하는 과정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910A22-916C-46C8-B62E-77A989E7F6F7}"/>
              </a:ext>
            </a:extLst>
          </p:cNvPr>
          <p:cNvSpPr txBox="1"/>
          <p:nvPr/>
        </p:nvSpPr>
        <p:spPr>
          <a:xfrm>
            <a:off x="938746" y="5185158"/>
            <a:ext cx="10419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DevOps</a:t>
            </a:r>
            <a:r>
              <a:rPr lang="ko-KR" altLang="en-US" dirty="0"/>
              <a:t>와 </a:t>
            </a:r>
            <a:r>
              <a:rPr lang="en-US" altLang="ko-KR" dirty="0" err="1"/>
              <a:t>MLOps</a:t>
            </a:r>
            <a:r>
              <a:rPr lang="ko-KR" altLang="en-US" dirty="0"/>
              <a:t>의 공통점 </a:t>
            </a:r>
            <a:r>
              <a:rPr lang="en-US" altLang="ko-KR" dirty="0"/>
              <a:t>: </a:t>
            </a:r>
            <a:r>
              <a:rPr lang="ko-KR" altLang="en-US" dirty="0"/>
              <a:t>프로세스 처리 및 테스트</a:t>
            </a:r>
            <a:r>
              <a:rPr lang="en-US" altLang="ko-KR" dirty="0"/>
              <a:t>,</a:t>
            </a:r>
            <a:r>
              <a:rPr lang="ko-KR" altLang="en-US" dirty="0"/>
              <a:t> 배포</a:t>
            </a:r>
            <a:r>
              <a:rPr lang="en-US" altLang="ko-KR" dirty="0"/>
              <a:t>, </a:t>
            </a:r>
            <a:r>
              <a:rPr lang="ko-KR" altLang="en-US" dirty="0"/>
              <a:t>배포 한 것 모니터링</a:t>
            </a:r>
            <a:r>
              <a:rPr lang="en-US" altLang="ko-KR" dirty="0"/>
              <a:t>, feedback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 전체 </a:t>
            </a:r>
            <a:r>
              <a:rPr lang="en-US" altLang="ko-KR" dirty="0"/>
              <a:t>CI/CD</a:t>
            </a:r>
            <a:r>
              <a:rPr lang="ko-KR" altLang="en-US" dirty="0"/>
              <a:t>의 과정을 파이프라인이라고 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E9FF47-3BB9-4901-B527-29119F29BCB7}"/>
              </a:ext>
            </a:extLst>
          </p:cNvPr>
          <p:cNvSpPr txBox="1"/>
          <p:nvPr/>
        </p:nvSpPr>
        <p:spPr>
          <a:xfrm>
            <a:off x="62918" y="6514961"/>
            <a:ext cx="23531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https://youtu.be/q2N6NZKxipg</a:t>
            </a:r>
          </a:p>
        </p:txBody>
      </p:sp>
      <p:sp>
        <p:nvSpPr>
          <p:cNvPr id="25" name="말풍선: 타원형 24">
            <a:extLst>
              <a:ext uri="{FF2B5EF4-FFF2-40B4-BE49-F238E27FC236}">
                <a16:creationId xmlns:a16="http://schemas.microsoft.com/office/drawing/2014/main" id="{BF7DF4E2-ADE0-4C4F-B7F8-FCE1E04DFC21}"/>
              </a:ext>
            </a:extLst>
          </p:cNvPr>
          <p:cNvSpPr/>
          <p:nvPr/>
        </p:nvSpPr>
        <p:spPr>
          <a:xfrm>
            <a:off x="5716494" y="803959"/>
            <a:ext cx="2286603" cy="873747"/>
          </a:xfrm>
          <a:prstGeom prst="wedgeEllipseCallout">
            <a:avLst>
              <a:gd name="adj1" fmla="val 23385"/>
              <a:gd name="adj2" fmla="val 98251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Input</a:t>
            </a:r>
            <a:r>
              <a:rPr lang="en-US" altLang="ko-KR" sz="1200" dirty="0">
                <a:solidFill>
                  <a:schemeClr val="tx1"/>
                </a:solidFill>
              </a:rPr>
              <a:t> : </a:t>
            </a:r>
            <a:r>
              <a:rPr lang="ko-KR" altLang="en-US" sz="1200" dirty="0">
                <a:solidFill>
                  <a:schemeClr val="tx1"/>
                </a:solidFill>
              </a:rPr>
              <a:t>모델을 만들기 위한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데이터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학습데이터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말풍선: 타원형 25">
            <a:extLst>
              <a:ext uri="{FF2B5EF4-FFF2-40B4-BE49-F238E27FC236}">
                <a16:creationId xmlns:a16="http://schemas.microsoft.com/office/drawing/2014/main" id="{3885F6B1-B65F-4D9E-98AB-C40755175748}"/>
              </a:ext>
            </a:extLst>
          </p:cNvPr>
          <p:cNvSpPr/>
          <p:nvPr/>
        </p:nvSpPr>
        <p:spPr>
          <a:xfrm>
            <a:off x="9087050" y="843210"/>
            <a:ext cx="2953476" cy="989414"/>
          </a:xfrm>
          <a:prstGeom prst="wedgeEllipseCallout">
            <a:avLst>
              <a:gd name="adj1" fmla="val -41557"/>
              <a:gd name="adj2" fmla="val 86815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tx1"/>
                </a:solidFill>
              </a:rPr>
              <a:t>Input</a:t>
            </a:r>
            <a:r>
              <a:rPr lang="en-US" altLang="ko-KR" sz="1200" dirty="0">
                <a:solidFill>
                  <a:schemeClr val="tx1"/>
                </a:solidFill>
              </a:rPr>
              <a:t> : </a:t>
            </a:r>
            <a:r>
              <a:rPr lang="ko-KR" altLang="en-US" sz="1200" dirty="0">
                <a:solidFill>
                  <a:schemeClr val="tx1"/>
                </a:solidFill>
              </a:rPr>
              <a:t>실제 프로덕션에서 생성된 </a:t>
            </a:r>
            <a:r>
              <a:rPr lang="en-US" altLang="ko-KR" sz="1200" dirty="0">
                <a:solidFill>
                  <a:schemeClr val="tx1"/>
                </a:solidFill>
              </a:rPr>
              <a:t>new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tx1"/>
                </a:solidFill>
              </a:rPr>
              <a:t>Output</a:t>
            </a:r>
            <a:r>
              <a:rPr lang="en-US" altLang="ko-KR" sz="1200" dirty="0">
                <a:solidFill>
                  <a:schemeClr val="tx1"/>
                </a:solidFill>
              </a:rPr>
              <a:t> : new </a:t>
            </a:r>
            <a:r>
              <a:rPr lang="ko-KR" altLang="en-US" sz="1200" dirty="0">
                <a:solidFill>
                  <a:schemeClr val="tx1"/>
                </a:solidFill>
              </a:rPr>
              <a:t>데이터에 대한 예측 값</a:t>
            </a:r>
          </a:p>
        </p:txBody>
      </p:sp>
      <p:sp>
        <p:nvSpPr>
          <p:cNvPr id="27" name="말풍선: 타원형 26">
            <a:extLst>
              <a:ext uri="{FF2B5EF4-FFF2-40B4-BE49-F238E27FC236}">
                <a16:creationId xmlns:a16="http://schemas.microsoft.com/office/drawing/2014/main" id="{77817D01-5260-428C-A5EF-57ADCAD4438F}"/>
              </a:ext>
            </a:extLst>
          </p:cNvPr>
          <p:cNvSpPr/>
          <p:nvPr/>
        </p:nvSpPr>
        <p:spPr>
          <a:xfrm>
            <a:off x="9448800" y="3711973"/>
            <a:ext cx="1396879" cy="498483"/>
          </a:xfrm>
          <a:prstGeom prst="wedgeEllipseCallout">
            <a:avLst>
              <a:gd name="adj1" fmla="val -45536"/>
              <a:gd name="adj2" fmla="val -58087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모델 배포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65EA9-B884-4519-AA71-3AE57786FBE2}"/>
              </a:ext>
            </a:extLst>
          </p:cNvPr>
          <p:cNvSpPr txBox="1"/>
          <p:nvPr/>
        </p:nvSpPr>
        <p:spPr>
          <a:xfrm>
            <a:off x="1569221" y="1871721"/>
            <a:ext cx="1693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FF0000"/>
                </a:solidFill>
              </a:rPr>
              <a:t>&lt;DevOps&gt;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D75025-C756-4C6C-B36F-415D38C9139F}"/>
              </a:ext>
            </a:extLst>
          </p:cNvPr>
          <p:cNvSpPr txBox="1"/>
          <p:nvPr/>
        </p:nvSpPr>
        <p:spPr>
          <a:xfrm>
            <a:off x="5646401" y="5656172"/>
            <a:ext cx="48733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CI :</a:t>
            </a:r>
            <a:r>
              <a:rPr lang="en-US" altLang="ko-KR" sz="1200" dirty="0"/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지속적 통합</a:t>
            </a:r>
            <a:r>
              <a:rPr lang="en-US" altLang="ko-KR" sz="1200" dirty="0">
                <a:solidFill>
                  <a:schemeClr val="tx1"/>
                </a:solidFill>
              </a:rPr>
              <a:t>(Continuous Integration)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CD : </a:t>
            </a:r>
            <a:r>
              <a:rPr lang="ko-KR" altLang="en-US" sz="1200" dirty="0">
                <a:solidFill>
                  <a:schemeClr val="tx1"/>
                </a:solidFill>
              </a:rPr>
              <a:t>지속적인 서비스 제공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배포</a:t>
            </a:r>
            <a:r>
              <a:rPr lang="en-US" altLang="ko-KR" sz="1200" dirty="0">
                <a:solidFill>
                  <a:schemeClr val="tx1"/>
                </a:solidFill>
              </a:rPr>
              <a:t>(Continuous Delivery/Deployment)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자동화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480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ML</a:t>
            </a:r>
            <a:r>
              <a:rPr lang="ko-KR" altLang="en-US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생애주기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3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5AB8CE-6232-40A2-9D5D-728244495FB4}"/>
              </a:ext>
            </a:extLst>
          </p:cNvPr>
          <p:cNvSpPr txBox="1"/>
          <p:nvPr/>
        </p:nvSpPr>
        <p:spPr>
          <a:xfrm>
            <a:off x="62918" y="6514961"/>
            <a:ext cx="23531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https://youtu.be/q2N6NZKxipg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EBFEC2F-9908-46C8-9CE1-5F706C56BC51}"/>
              </a:ext>
            </a:extLst>
          </p:cNvPr>
          <p:cNvGrpSpPr/>
          <p:nvPr/>
        </p:nvGrpSpPr>
        <p:grpSpPr>
          <a:xfrm>
            <a:off x="802404" y="1289752"/>
            <a:ext cx="10587191" cy="4282267"/>
            <a:chOff x="1518407" y="1809199"/>
            <a:chExt cx="9064303" cy="3666295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7F0C29A-022A-4DF8-9FD8-47225A75D1AA}"/>
                </a:ext>
              </a:extLst>
            </p:cNvPr>
            <p:cNvGrpSpPr/>
            <p:nvPr/>
          </p:nvGrpSpPr>
          <p:grpSpPr>
            <a:xfrm>
              <a:off x="1609287" y="1809199"/>
              <a:ext cx="8973423" cy="3239602"/>
              <a:chOff x="850085" y="1214041"/>
              <a:chExt cx="10416331" cy="3760523"/>
            </a:xfrm>
          </p:grpSpPr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2C1CC928-55F6-45EB-B213-8F2BDDEF9DDA}"/>
                  </a:ext>
                </a:extLst>
              </p:cNvPr>
              <p:cNvCxnSpPr>
                <a:cxnSpLocks/>
                <a:stCxn id="21" idx="3"/>
              </p:cNvCxnSpPr>
              <p:nvPr/>
            </p:nvCxnSpPr>
            <p:spPr>
              <a:xfrm>
                <a:off x="2251046" y="2561449"/>
                <a:ext cx="901537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F2E6BF0-4DD2-4B0B-8149-EA4EC17E2467}"/>
                  </a:ext>
                </a:extLst>
              </p:cNvPr>
              <p:cNvSpPr/>
              <p:nvPr/>
            </p:nvSpPr>
            <p:spPr>
              <a:xfrm>
                <a:off x="850085" y="2281940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데이터 가져오기</a:t>
                </a: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747939F6-4E18-45ED-BA40-42F0E2D072D7}"/>
                  </a:ext>
                </a:extLst>
              </p:cNvPr>
              <p:cNvSpPr/>
              <p:nvPr/>
            </p:nvSpPr>
            <p:spPr>
              <a:xfrm>
                <a:off x="2964111" y="2281940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데이터 탐색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5CE9E822-5C07-4F3E-BE2C-BDEF9E117D5D}"/>
                  </a:ext>
                </a:extLst>
              </p:cNvPr>
              <p:cNvSpPr/>
              <p:nvPr/>
            </p:nvSpPr>
            <p:spPr>
              <a:xfrm>
                <a:off x="5078137" y="2281940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데이터 가공</a:t>
                </a: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F0358CE5-612C-4833-A939-9BD64EB536C4}"/>
                  </a:ext>
                </a:extLst>
              </p:cNvPr>
              <p:cNvSpPr/>
              <p:nvPr/>
            </p:nvSpPr>
            <p:spPr>
              <a:xfrm>
                <a:off x="7192163" y="2281940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데이터 검증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D3585D35-41DE-4029-B96E-FBC1325CDB6D}"/>
                  </a:ext>
                </a:extLst>
              </p:cNvPr>
              <p:cNvSpPr/>
              <p:nvPr/>
            </p:nvSpPr>
            <p:spPr>
              <a:xfrm>
                <a:off x="9306188" y="2263419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데이터 나누기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BD9D6D9-134D-4686-91C9-63A89310E34B}"/>
                  </a:ext>
                </a:extLst>
              </p:cNvPr>
              <p:cNvSpPr/>
              <p:nvPr/>
            </p:nvSpPr>
            <p:spPr>
              <a:xfrm>
                <a:off x="2964111" y="3348743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학습 방법 결정</a:t>
                </a:r>
              </a:p>
            </p:txBody>
          </p: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FF72B563-8C33-480A-BA39-C1416A6BACB7}"/>
                  </a:ext>
                </a:extLst>
              </p:cNvPr>
              <p:cNvCxnSpPr>
                <a:cxnSpLocks/>
                <a:stCxn id="34" idx="3"/>
                <a:endCxn id="37" idx="1"/>
              </p:cNvCxnSpPr>
              <p:nvPr/>
            </p:nvCxnSpPr>
            <p:spPr>
              <a:xfrm flipV="1">
                <a:off x="4365072" y="4676534"/>
                <a:ext cx="4941116" cy="1852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169D45AB-22A4-4C8A-B663-22ADD2BD0CC8}"/>
                  </a:ext>
                </a:extLst>
              </p:cNvPr>
              <p:cNvSpPr/>
              <p:nvPr/>
            </p:nvSpPr>
            <p:spPr>
              <a:xfrm>
                <a:off x="2964111" y="4415546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대규모 배포 준비</a:t>
                </a: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14FF8CD7-753D-4EBC-813E-E78E093A0768}"/>
                  </a:ext>
                </a:extLst>
              </p:cNvPr>
              <p:cNvSpPr/>
              <p:nvPr/>
            </p:nvSpPr>
            <p:spPr>
              <a:xfrm>
                <a:off x="5078137" y="4415546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배포 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/ 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운영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E5D4EFC4-068E-41F7-BA0C-0DF43628EBF4}"/>
                  </a:ext>
                </a:extLst>
              </p:cNvPr>
              <p:cNvSpPr/>
              <p:nvPr/>
            </p:nvSpPr>
            <p:spPr>
              <a:xfrm>
                <a:off x="7192163" y="4415546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로깅</a:t>
                </a: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451F0D4-2BAE-4CA2-97D1-3E1A77EE95C2}"/>
                  </a:ext>
                </a:extLst>
              </p:cNvPr>
              <p:cNvSpPr/>
              <p:nvPr/>
            </p:nvSpPr>
            <p:spPr>
              <a:xfrm>
                <a:off x="9306188" y="4397025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모니터링</a:t>
                </a:r>
              </a:p>
            </p:txBody>
          </p:sp>
          <p:cxnSp>
            <p:nvCxnSpPr>
              <p:cNvPr id="38" name="연결선: 꺾임 37">
                <a:extLst>
                  <a:ext uri="{FF2B5EF4-FFF2-40B4-BE49-F238E27FC236}">
                    <a16:creationId xmlns:a16="http://schemas.microsoft.com/office/drawing/2014/main" id="{8A94B7BF-B0FE-4094-BCAD-E2F130711A6B}"/>
                  </a:ext>
                </a:extLst>
              </p:cNvPr>
              <p:cNvCxnSpPr>
                <a:stCxn id="37" idx="2"/>
                <a:endCxn id="21" idx="2"/>
              </p:cNvCxnSpPr>
              <p:nvPr/>
            </p:nvCxnSpPr>
            <p:spPr>
              <a:xfrm rot="5400000" flipH="1">
                <a:off x="4721075" y="-329550"/>
                <a:ext cx="2115085" cy="8456103"/>
              </a:xfrm>
              <a:prstGeom prst="bentConnector3">
                <a:avLst>
                  <a:gd name="adj1" fmla="val -10808"/>
                </a:avLst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D7B802EF-EB81-4B0B-91FE-8E3B281395B2}"/>
                  </a:ext>
                </a:extLst>
              </p:cNvPr>
              <p:cNvCxnSpPr>
                <a:cxnSpLocks/>
                <a:stCxn id="28" idx="3"/>
              </p:cNvCxnSpPr>
              <p:nvPr/>
            </p:nvCxnSpPr>
            <p:spPr>
              <a:xfrm>
                <a:off x="4365072" y="3628252"/>
                <a:ext cx="690134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15E43317-D606-4C05-93B8-D6A318AF7ADB}"/>
                  </a:ext>
                </a:extLst>
              </p:cNvPr>
              <p:cNvSpPr/>
              <p:nvPr/>
            </p:nvSpPr>
            <p:spPr>
              <a:xfrm>
                <a:off x="5078137" y="3348743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모델 만들기</a:t>
                </a: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CE8EABEF-7D52-4EDA-89F3-70CB4568415E}"/>
                  </a:ext>
                </a:extLst>
              </p:cNvPr>
              <p:cNvSpPr/>
              <p:nvPr/>
            </p:nvSpPr>
            <p:spPr>
              <a:xfrm>
                <a:off x="7192163" y="3348743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모델 검증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AED4FCBB-F4C7-4A2F-A288-133D4D2A5AE9}"/>
                  </a:ext>
                </a:extLst>
              </p:cNvPr>
              <p:cNvSpPr/>
              <p:nvPr/>
            </p:nvSpPr>
            <p:spPr>
              <a:xfrm>
                <a:off x="9306188" y="3330222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대규모 학습</a:t>
                </a: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6ED86146-4961-424A-AE45-26DCDBF7A922}"/>
                  </a:ext>
                </a:extLst>
              </p:cNvPr>
              <p:cNvSpPr/>
              <p:nvPr/>
            </p:nvSpPr>
            <p:spPr>
              <a:xfrm>
                <a:off x="850085" y="1214041"/>
                <a:ext cx="1400961" cy="559018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문제 정의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/</a:t>
                </a:r>
              </a:p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접근방법 검토</a:t>
                </a:r>
                <a:endParaRPr lang="en-US" altLang="ko-KR" sz="12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4" name="직선 화살표 연결선 43">
                <a:extLst>
                  <a:ext uri="{FF2B5EF4-FFF2-40B4-BE49-F238E27FC236}">
                    <a16:creationId xmlns:a16="http://schemas.microsoft.com/office/drawing/2014/main" id="{CEDAE6B9-D130-4480-A49A-CE6163BF5C20}"/>
                  </a:ext>
                </a:extLst>
              </p:cNvPr>
              <p:cNvCxnSpPr>
                <a:stCxn id="45" idx="2"/>
                <a:endCxn id="21" idx="0"/>
              </p:cNvCxnSpPr>
              <p:nvPr/>
            </p:nvCxnSpPr>
            <p:spPr>
              <a:xfrm>
                <a:off x="1550566" y="1773059"/>
                <a:ext cx="0" cy="50888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BFB9075-7030-4362-9EA6-CF756765C590}"/>
                </a:ext>
              </a:extLst>
            </p:cNvPr>
            <p:cNvSpPr/>
            <p:nvPr/>
          </p:nvSpPr>
          <p:spPr>
            <a:xfrm>
              <a:off x="1518407" y="2592198"/>
              <a:ext cx="8716159" cy="2883296"/>
            </a:xfrm>
            <a:prstGeom prst="rect">
              <a:avLst/>
            </a:prstGeom>
            <a:noFill/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833ECC-2205-4ADC-9669-5093296DAB01}"/>
                </a:ext>
              </a:extLst>
            </p:cNvPr>
            <p:cNvSpPr txBox="1"/>
            <p:nvPr/>
          </p:nvSpPr>
          <p:spPr>
            <a:xfrm>
              <a:off x="8121456" y="2214888"/>
              <a:ext cx="2188407" cy="3952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 err="1">
                  <a:solidFill>
                    <a:schemeClr val="accent5">
                      <a:lumMod val="75000"/>
                    </a:schemeClr>
                  </a:solidFill>
                </a:rPr>
                <a:t>MLOps</a:t>
              </a:r>
              <a:r>
                <a:rPr lang="en-US" altLang="ko-KR" sz="2400" b="1" dirty="0">
                  <a:solidFill>
                    <a:schemeClr val="accent5">
                      <a:lumMod val="75000"/>
                    </a:schemeClr>
                  </a:solidFill>
                </a:rPr>
                <a:t> in Action</a:t>
              </a:r>
              <a:endParaRPr lang="ko-KR" altLang="en-US" sz="2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3677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Research ML vs Production ML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4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5AB8CE-6232-40A2-9D5D-728244495FB4}"/>
              </a:ext>
            </a:extLst>
          </p:cNvPr>
          <p:cNvSpPr txBox="1"/>
          <p:nvPr/>
        </p:nvSpPr>
        <p:spPr>
          <a:xfrm>
            <a:off x="62918" y="6514961"/>
            <a:ext cx="23531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https://youtu.be/q2N6NZKxipg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7F0C29A-022A-4DF8-9FD8-47225A75D1AA}"/>
              </a:ext>
            </a:extLst>
          </p:cNvPr>
          <p:cNvGrpSpPr/>
          <p:nvPr/>
        </p:nvGrpSpPr>
        <p:grpSpPr>
          <a:xfrm>
            <a:off x="2074842" y="1087912"/>
            <a:ext cx="8042312" cy="1631330"/>
            <a:chOff x="850085" y="2263419"/>
            <a:chExt cx="10416331" cy="2711145"/>
          </a:xfrm>
        </p:grpSpPr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2C1CC928-55F6-45EB-B213-8F2BDDEF9DDA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2251046" y="2561449"/>
              <a:ext cx="901537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F2E6BF0-4DD2-4B0B-8149-EA4EC17E2467}"/>
                </a:ext>
              </a:extLst>
            </p:cNvPr>
            <p:cNvSpPr/>
            <p:nvPr/>
          </p:nvSpPr>
          <p:spPr>
            <a:xfrm>
              <a:off x="850085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가져오기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47939F6-4E18-45ED-BA40-42F0E2D072D7}"/>
                </a:ext>
              </a:extLst>
            </p:cNvPr>
            <p:cNvSpPr/>
            <p:nvPr/>
          </p:nvSpPr>
          <p:spPr>
            <a:xfrm>
              <a:off x="2964111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탐색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CE9E822-5C07-4F3E-BE2C-BDEF9E117D5D}"/>
                </a:ext>
              </a:extLst>
            </p:cNvPr>
            <p:cNvSpPr/>
            <p:nvPr/>
          </p:nvSpPr>
          <p:spPr>
            <a:xfrm>
              <a:off x="5078137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가공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0358CE5-612C-4833-A939-9BD64EB536C4}"/>
                </a:ext>
              </a:extLst>
            </p:cNvPr>
            <p:cNvSpPr/>
            <p:nvPr/>
          </p:nvSpPr>
          <p:spPr>
            <a:xfrm>
              <a:off x="7192163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검증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3585D35-41DE-4029-B96E-FBC1325CDB6D}"/>
                </a:ext>
              </a:extLst>
            </p:cNvPr>
            <p:cNvSpPr/>
            <p:nvPr/>
          </p:nvSpPr>
          <p:spPr>
            <a:xfrm>
              <a:off x="9306188" y="2263419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나누기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BD9D6D9-134D-4686-91C9-63A89310E34B}"/>
                </a:ext>
              </a:extLst>
            </p:cNvPr>
            <p:cNvSpPr/>
            <p:nvPr/>
          </p:nvSpPr>
          <p:spPr>
            <a:xfrm>
              <a:off x="2964111" y="3348743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학습 방법 결정</a:t>
              </a: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FF72B563-8C33-480A-BA39-C1416A6BACB7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 flipV="1">
              <a:off x="4365072" y="4676534"/>
              <a:ext cx="4941116" cy="185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69D45AB-22A4-4C8A-B663-22ADD2BD0CC8}"/>
                </a:ext>
              </a:extLst>
            </p:cNvPr>
            <p:cNvSpPr/>
            <p:nvPr/>
          </p:nvSpPr>
          <p:spPr>
            <a:xfrm>
              <a:off x="2964111" y="4415546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대규모 배포 준비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4FF8CD7-753D-4EBC-813E-E78E093A0768}"/>
                </a:ext>
              </a:extLst>
            </p:cNvPr>
            <p:cNvSpPr/>
            <p:nvPr/>
          </p:nvSpPr>
          <p:spPr>
            <a:xfrm>
              <a:off x="5078137" y="4415546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배포 </a:t>
              </a:r>
              <a:r>
                <a:rPr lang="en-US" altLang="ko-KR" sz="1050" dirty="0">
                  <a:solidFill>
                    <a:schemeClr val="tx1"/>
                  </a:solidFill>
                </a:rPr>
                <a:t>/ </a:t>
              </a:r>
              <a:r>
                <a:rPr lang="ko-KR" altLang="en-US" sz="1050" dirty="0">
                  <a:solidFill>
                    <a:schemeClr val="tx1"/>
                  </a:solidFill>
                </a:rPr>
                <a:t>운영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5D4EFC4-068E-41F7-BA0C-0DF43628EBF4}"/>
                </a:ext>
              </a:extLst>
            </p:cNvPr>
            <p:cNvSpPr/>
            <p:nvPr/>
          </p:nvSpPr>
          <p:spPr>
            <a:xfrm>
              <a:off x="7192163" y="4415546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로깅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451F0D4-2BAE-4CA2-97D1-3E1A77EE95C2}"/>
                </a:ext>
              </a:extLst>
            </p:cNvPr>
            <p:cNvSpPr/>
            <p:nvPr/>
          </p:nvSpPr>
          <p:spPr>
            <a:xfrm>
              <a:off x="9306188" y="4397025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모니터링</a:t>
              </a:r>
            </a:p>
          </p:txBody>
        </p: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8A94B7BF-B0FE-4094-BCAD-E2F130711A6B}"/>
                </a:ext>
              </a:extLst>
            </p:cNvPr>
            <p:cNvCxnSpPr>
              <a:cxnSpLocks/>
              <a:stCxn id="37" idx="2"/>
              <a:endCxn id="21" idx="2"/>
            </p:cNvCxnSpPr>
            <p:nvPr/>
          </p:nvCxnSpPr>
          <p:spPr>
            <a:xfrm rot="5400000" flipH="1">
              <a:off x="4721075" y="-329550"/>
              <a:ext cx="2115085" cy="8456103"/>
            </a:xfrm>
            <a:prstGeom prst="bentConnector3">
              <a:avLst>
                <a:gd name="adj1" fmla="val -10808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D7B802EF-EB81-4B0B-91FE-8E3B281395B2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>
              <a:off x="4365072" y="3628252"/>
              <a:ext cx="690134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5E43317-D606-4C05-93B8-D6A318AF7ADB}"/>
                </a:ext>
              </a:extLst>
            </p:cNvPr>
            <p:cNvSpPr/>
            <p:nvPr/>
          </p:nvSpPr>
          <p:spPr>
            <a:xfrm>
              <a:off x="5078137" y="3348743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모델 만들기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E8EABEF-7D52-4EDA-89F3-70CB4568415E}"/>
                </a:ext>
              </a:extLst>
            </p:cNvPr>
            <p:cNvSpPr/>
            <p:nvPr/>
          </p:nvSpPr>
          <p:spPr>
            <a:xfrm>
              <a:off x="7192163" y="3348743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모델 검증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AED4FCBB-F4C7-4A2F-A288-133D4D2A5AE9}"/>
                </a:ext>
              </a:extLst>
            </p:cNvPr>
            <p:cNvSpPr/>
            <p:nvPr/>
          </p:nvSpPr>
          <p:spPr>
            <a:xfrm>
              <a:off x="9306188" y="3330222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대규모 학습</a:t>
              </a:r>
            </a:p>
          </p:txBody>
        </p:sp>
      </p:grp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118DA39C-1024-411A-B8A6-E37093607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832747"/>
              </p:ext>
            </p:extLst>
          </p:nvPr>
        </p:nvGraphicFramePr>
        <p:xfrm>
          <a:off x="1118381" y="3285375"/>
          <a:ext cx="9955235" cy="25958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23179">
                  <a:extLst>
                    <a:ext uri="{9D8B030D-6E8A-4147-A177-3AD203B41FA5}">
                      <a16:colId xmlns:a16="http://schemas.microsoft.com/office/drawing/2014/main" val="760741459"/>
                    </a:ext>
                  </a:extLst>
                </a:gridCol>
                <a:gridCol w="4026501">
                  <a:extLst>
                    <a:ext uri="{9D8B030D-6E8A-4147-A177-3AD203B41FA5}">
                      <a16:colId xmlns:a16="http://schemas.microsoft.com/office/drawing/2014/main" val="2651069758"/>
                    </a:ext>
                  </a:extLst>
                </a:gridCol>
                <a:gridCol w="4605555">
                  <a:extLst>
                    <a:ext uri="{9D8B030D-6E8A-4147-A177-3AD203B41FA5}">
                      <a16:colId xmlns:a16="http://schemas.microsoft.com/office/drawing/2014/main" val="2748119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기존 </a:t>
                      </a:r>
                      <a:r>
                        <a:rPr lang="en-US" altLang="ko-KR" sz="1400" dirty="0"/>
                        <a:t>ML (</a:t>
                      </a:r>
                      <a:r>
                        <a:rPr lang="ko-KR" altLang="en-US" sz="1400" dirty="0" err="1"/>
                        <a:t>노란박스까지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MLOps</a:t>
                      </a:r>
                      <a:r>
                        <a:rPr lang="en-US" altLang="ko-KR" sz="1400" dirty="0"/>
                        <a:t> (</a:t>
                      </a:r>
                      <a:r>
                        <a:rPr lang="ko-KR" altLang="en-US" sz="1400" dirty="0"/>
                        <a:t>전체 파이프라인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792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고정</a:t>
                      </a:r>
                      <a:r>
                        <a:rPr lang="en-US" altLang="ko-KR" sz="1400" dirty="0"/>
                        <a:t>(Static)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계속 변함</a:t>
                      </a:r>
                      <a:r>
                        <a:rPr lang="en-US" altLang="ko-KR" sz="1400" dirty="0"/>
                        <a:t>(Dynamic - Shifting)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592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중요 요소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모델 성능</a:t>
                      </a:r>
                      <a:r>
                        <a:rPr lang="en-US" altLang="ko-KR" sz="1400" dirty="0"/>
                        <a:t>(Accuracy, RMSE </a:t>
                      </a:r>
                      <a:r>
                        <a:rPr lang="ko-KR" altLang="en-US" sz="1400" dirty="0"/>
                        <a:t>등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모델 성능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빠른 </a:t>
                      </a:r>
                      <a:r>
                        <a:rPr lang="en-US" altLang="ko-KR" sz="1400" dirty="0"/>
                        <a:t>Inference </a:t>
                      </a:r>
                      <a:r>
                        <a:rPr lang="ko-KR" altLang="en-US" sz="1400" dirty="0"/>
                        <a:t>속도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해석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60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도전 과제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더 좋은 성능을 내는 모델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새로운 구조의 모델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안정적인 운영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전체 시스템 구조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189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학습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데이터가 고정이라 모델구조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파라미터 기반 </a:t>
                      </a:r>
                      <a:r>
                        <a:rPr lang="ko-KR" altLang="en-US" sz="1400" dirty="0" err="1"/>
                        <a:t>재학습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시간의 흐름에 따라 데이터가 변경되어 </a:t>
                      </a:r>
                      <a:r>
                        <a:rPr lang="ko-KR" altLang="en-US" sz="1400" dirty="0" err="1"/>
                        <a:t>재학습</a:t>
                      </a:r>
                      <a:r>
                        <a:rPr lang="en-US" altLang="ko-KR" sz="1400" dirty="0"/>
                        <a:t>(Data Drift)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1714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논문 출판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서비스화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036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표현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Offline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Online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8448528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5A737D6F-6DF4-4DD6-A618-06EB14813946}"/>
              </a:ext>
            </a:extLst>
          </p:cNvPr>
          <p:cNvSpPr txBox="1"/>
          <p:nvPr/>
        </p:nvSpPr>
        <p:spPr>
          <a:xfrm>
            <a:off x="2900363" y="6514960"/>
            <a:ext cx="25479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https://youtu.be/I-sa8bOcOUk</a:t>
            </a:r>
          </a:p>
        </p:txBody>
      </p:sp>
    </p:spTree>
    <p:extLst>
      <p:ext uri="{BB962C8B-B14F-4D97-AF65-F5344CB8AC3E}">
        <p14:creationId xmlns:p14="http://schemas.microsoft.com/office/powerpoint/2010/main" val="2782249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MLOps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5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5AB8CE-6232-40A2-9D5D-728244495FB4}"/>
              </a:ext>
            </a:extLst>
          </p:cNvPr>
          <p:cNvSpPr txBox="1"/>
          <p:nvPr/>
        </p:nvSpPr>
        <p:spPr>
          <a:xfrm>
            <a:off x="62918" y="6514961"/>
            <a:ext cx="23531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https://youtu.be/q2N6NZKxipg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7F0C29A-022A-4DF8-9FD8-47225A75D1AA}"/>
              </a:ext>
            </a:extLst>
          </p:cNvPr>
          <p:cNvGrpSpPr/>
          <p:nvPr/>
        </p:nvGrpSpPr>
        <p:grpSpPr>
          <a:xfrm>
            <a:off x="2074843" y="1087912"/>
            <a:ext cx="8042312" cy="1631330"/>
            <a:chOff x="850085" y="2263419"/>
            <a:chExt cx="10416331" cy="2711145"/>
          </a:xfrm>
        </p:grpSpPr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2C1CC928-55F6-45EB-B213-8F2BDDEF9DDA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2251046" y="2561449"/>
              <a:ext cx="901537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F2E6BF0-4DD2-4B0B-8149-EA4EC17E2467}"/>
                </a:ext>
              </a:extLst>
            </p:cNvPr>
            <p:cNvSpPr/>
            <p:nvPr/>
          </p:nvSpPr>
          <p:spPr>
            <a:xfrm>
              <a:off x="850085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가져오기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47939F6-4E18-45ED-BA40-42F0E2D072D7}"/>
                </a:ext>
              </a:extLst>
            </p:cNvPr>
            <p:cNvSpPr/>
            <p:nvPr/>
          </p:nvSpPr>
          <p:spPr>
            <a:xfrm>
              <a:off x="2964111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탐색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CE9E822-5C07-4F3E-BE2C-BDEF9E117D5D}"/>
                </a:ext>
              </a:extLst>
            </p:cNvPr>
            <p:cNvSpPr/>
            <p:nvPr/>
          </p:nvSpPr>
          <p:spPr>
            <a:xfrm>
              <a:off x="5078137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가공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0358CE5-612C-4833-A939-9BD64EB536C4}"/>
                </a:ext>
              </a:extLst>
            </p:cNvPr>
            <p:cNvSpPr/>
            <p:nvPr/>
          </p:nvSpPr>
          <p:spPr>
            <a:xfrm>
              <a:off x="7192163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검증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3585D35-41DE-4029-B96E-FBC1325CDB6D}"/>
                </a:ext>
              </a:extLst>
            </p:cNvPr>
            <p:cNvSpPr/>
            <p:nvPr/>
          </p:nvSpPr>
          <p:spPr>
            <a:xfrm>
              <a:off x="9306188" y="2263419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나누기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BD9D6D9-134D-4686-91C9-63A89310E34B}"/>
                </a:ext>
              </a:extLst>
            </p:cNvPr>
            <p:cNvSpPr/>
            <p:nvPr/>
          </p:nvSpPr>
          <p:spPr>
            <a:xfrm>
              <a:off x="2964111" y="3348743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학습 방법 결정</a:t>
              </a: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FF72B563-8C33-480A-BA39-C1416A6BACB7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 flipV="1">
              <a:off x="4365072" y="4676534"/>
              <a:ext cx="4941116" cy="185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69D45AB-22A4-4C8A-B663-22ADD2BD0CC8}"/>
                </a:ext>
              </a:extLst>
            </p:cNvPr>
            <p:cNvSpPr/>
            <p:nvPr/>
          </p:nvSpPr>
          <p:spPr>
            <a:xfrm>
              <a:off x="2964111" y="4415546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대규모 배포 준비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4FF8CD7-753D-4EBC-813E-E78E093A0768}"/>
                </a:ext>
              </a:extLst>
            </p:cNvPr>
            <p:cNvSpPr/>
            <p:nvPr/>
          </p:nvSpPr>
          <p:spPr>
            <a:xfrm>
              <a:off x="5078137" y="4415546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배포 </a:t>
              </a:r>
              <a:r>
                <a:rPr lang="en-US" altLang="ko-KR" sz="1050" dirty="0">
                  <a:solidFill>
                    <a:schemeClr val="tx1"/>
                  </a:solidFill>
                </a:rPr>
                <a:t>/ </a:t>
              </a:r>
              <a:r>
                <a:rPr lang="ko-KR" altLang="en-US" sz="1050" dirty="0">
                  <a:solidFill>
                    <a:schemeClr val="tx1"/>
                  </a:solidFill>
                </a:rPr>
                <a:t>운영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5D4EFC4-068E-41F7-BA0C-0DF43628EBF4}"/>
                </a:ext>
              </a:extLst>
            </p:cNvPr>
            <p:cNvSpPr/>
            <p:nvPr/>
          </p:nvSpPr>
          <p:spPr>
            <a:xfrm>
              <a:off x="7192163" y="4415546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로깅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451F0D4-2BAE-4CA2-97D1-3E1A77EE95C2}"/>
                </a:ext>
              </a:extLst>
            </p:cNvPr>
            <p:cNvSpPr/>
            <p:nvPr/>
          </p:nvSpPr>
          <p:spPr>
            <a:xfrm>
              <a:off x="9306188" y="4397025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모니터링</a:t>
              </a:r>
            </a:p>
          </p:txBody>
        </p: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8A94B7BF-B0FE-4094-BCAD-E2F130711A6B}"/>
                </a:ext>
              </a:extLst>
            </p:cNvPr>
            <p:cNvCxnSpPr>
              <a:cxnSpLocks/>
              <a:stCxn id="37" idx="2"/>
              <a:endCxn id="21" idx="2"/>
            </p:cNvCxnSpPr>
            <p:nvPr/>
          </p:nvCxnSpPr>
          <p:spPr>
            <a:xfrm rot="5400000" flipH="1">
              <a:off x="4721075" y="-329550"/>
              <a:ext cx="2115085" cy="8456103"/>
            </a:xfrm>
            <a:prstGeom prst="bentConnector3">
              <a:avLst>
                <a:gd name="adj1" fmla="val -10808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D7B802EF-EB81-4B0B-91FE-8E3B281395B2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>
              <a:off x="4365072" y="3628252"/>
              <a:ext cx="690134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5E43317-D606-4C05-93B8-D6A318AF7ADB}"/>
                </a:ext>
              </a:extLst>
            </p:cNvPr>
            <p:cNvSpPr/>
            <p:nvPr/>
          </p:nvSpPr>
          <p:spPr>
            <a:xfrm>
              <a:off x="5078137" y="3348743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모델 만들기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E8EABEF-7D52-4EDA-89F3-70CB4568415E}"/>
                </a:ext>
              </a:extLst>
            </p:cNvPr>
            <p:cNvSpPr/>
            <p:nvPr/>
          </p:nvSpPr>
          <p:spPr>
            <a:xfrm>
              <a:off x="7192163" y="3348743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모델 검증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AED4FCBB-F4C7-4A2F-A288-133D4D2A5AE9}"/>
                </a:ext>
              </a:extLst>
            </p:cNvPr>
            <p:cNvSpPr/>
            <p:nvPr/>
          </p:nvSpPr>
          <p:spPr>
            <a:xfrm>
              <a:off x="9306188" y="3330222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대규모 학습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5DB6FBB-2E63-42F5-8EDA-15110A03729F}"/>
              </a:ext>
            </a:extLst>
          </p:cNvPr>
          <p:cNvSpPr txBox="1"/>
          <p:nvPr/>
        </p:nvSpPr>
        <p:spPr>
          <a:xfrm>
            <a:off x="1107026" y="3350006"/>
            <a:ext cx="3969654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데이터 준비</a:t>
            </a:r>
            <a:endParaRPr lang="en-US" altLang="ko-KR" sz="2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문제</a:t>
            </a:r>
            <a:r>
              <a:rPr lang="en-US" altLang="ko-KR" dirty="0"/>
              <a:t>/</a:t>
            </a:r>
            <a:r>
              <a:rPr lang="ko-KR" altLang="en-US" dirty="0"/>
              <a:t>데이터 정의</a:t>
            </a:r>
            <a:r>
              <a:rPr lang="en-US" altLang="ko-KR" dirty="0"/>
              <a:t>, </a:t>
            </a:r>
            <a:r>
              <a:rPr lang="ko-KR" altLang="en-US" dirty="0"/>
              <a:t>가설수립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데이터 이동</a:t>
            </a:r>
            <a:r>
              <a:rPr lang="en-US" altLang="ko-KR" dirty="0"/>
              <a:t>/</a:t>
            </a:r>
            <a:r>
              <a:rPr lang="ko-KR" altLang="en-US" dirty="0"/>
              <a:t>연계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데이터셋 공유 및 재사용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데이터 탐색</a:t>
            </a:r>
            <a:r>
              <a:rPr lang="en-US" altLang="ko-KR" dirty="0"/>
              <a:t>/</a:t>
            </a:r>
            <a:r>
              <a:rPr lang="ko-KR" altLang="en-US" dirty="0"/>
              <a:t>가공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데이터 레이블링</a:t>
            </a:r>
            <a:endParaRPr lang="en-US" altLang="ko-KR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Feature Importance</a:t>
            </a:r>
            <a:r>
              <a:rPr lang="ko-KR" altLang="en-US" sz="1400" dirty="0"/>
              <a:t>탐색</a:t>
            </a:r>
            <a:endParaRPr lang="en-US" altLang="ko-KR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B580DE-44F6-4D60-A3F9-2173B17AAAC4}"/>
              </a:ext>
            </a:extLst>
          </p:cNvPr>
          <p:cNvSpPr txBox="1"/>
          <p:nvPr/>
        </p:nvSpPr>
        <p:spPr>
          <a:xfrm>
            <a:off x="5957000" y="3350006"/>
            <a:ext cx="49395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실험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모델학습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최적화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비교평가</a:t>
            </a:r>
            <a:endParaRPr lang="en-US" altLang="ko-KR" sz="2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실험 추적관리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데이터셋</a:t>
            </a:r>
            <a:r>
              <a:rPr lang="en-US" altLang="ko-KR" sz="1600" dirty="0"/>
              <a:t>, </a:t>
            </a:r>
            <a:r>
              <a:rPr lang="ko-KR" altLang="en-US" sz="1600" dirty="0"/>
              <a:t>코드</a:t>
            </a:r>
            <a:r>
              <a:rPr lang="en-US" altLang="ko-KR" sz="1600" dirty="0"/>
              <a:t>, </a:t>
            </a:r>
            <a:r>
              <a:rPr lang="ko-KR" altLang="en-US" sz="1600" dirty="0"/>
              <a:t>환경</a:t>
            </a:r>
            <a:r>
              <a:rPr lang="en-US" altLang="ko-KR" sz="1600" dirty="0"/>
              <a:t>, </a:t>
            </a:r>
            <a:r>
              <a:rPr lang="ko-KR" altLang="en-US" sz="1600" dirty="0"/>
              <a:t>모델</a:t>
            </a:r>
            <a:r>
              <a:rPr lang="en-US" altLang="ko-KR" sz="1600" dirty="0"/>
              <a:t>, </a:t>
            </a:r>
            <a:r>
              <a:rPr lang="ko-KR" altLang="en-US" sz="1600" dirty="0"/>
              <a:t>서빙 추적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모델의 검증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예측성능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처리성능</a:t>
            </a:r>
            <a:endParaRPr lang="en-US" altLang="ko-KR" sz="16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90C77DE-EEFE-48FE-B4AD-5DE28C5691E4}"/>
              </a:ext>
            </a:extLst>
          </p:cNvPr>
          <p:cNvSpPr/>
          <p:nvPr/>
        </p:nvSpPr>
        <p:spPr>
          <a:xfrm>
            <a:off x="5291870" y="1615683"/>
            <a:ext cx="1164910" cy="58692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6381393-9B40-4C01-942A-32757D51E189}"/>
              </a:ext>
            </a:extLst>
          </p:cNvPr>
          <p:cNvCxnSpPr>
            <a:cxnSpLocks/>
          </p:cNvCxnSpPr>
          <p:nvPr/>
        </p:nvCxnSpPr>
        <p:spPr>
          <a:xfrm>
            <a:off x="1933575" y="997578"/>
            <a:ext cx="0" cy="481869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28E3AFF-CE2C-42EB-8C09-B70FD7AC591B}"/>
              </a:ext>
            </a:extLst>
          </p:cNvPr>
          <p:cNvCxnSpPr>
            <a:cxnSpLocks/>
          </p:cNvCxnSpPr>
          <p:nvPr/>
        </p:nvCxnSpPr>
        <p:spPr>
          <a:xfrm>
            <a:off x="1914525" y="1487291"/>
            <a:ext cx="165735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19A20A4-98A6-46C5-9B26-9381089C11A0}"/>
              </a:ext>
            </a:extLst>
          </p:cNvPr>
          <p:cNvCxnSpPr>
            <a:cxnSpLocks/>
          </p:cNvCxnSpPr>
          <p:nvPr/>
        </p:nvCxnSpPr>
        <p:spPr>
          <a:xfrm flipV="1">
            <a:off x="9886950" y="997578"/>
            <a:ext cx="0" cy="489713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C42B67A-42BC-433D-96F8-B5CD7D2C58AA}"/>
              </a:ext>
            </a:extLst>
          </p:cNvPr>
          <p:cNvCxnSpPr>
            <a:cxnSpLocks/>
          </p:cNvCxnSpPr>
          <p:nvPr/>
        </p:nvCxnSpPr>
        <p:spPr>
          <a:xfrm>
            <a:off x="1933575" y="997578"/>
            <a:ext cx="796290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0D76DCCA-C33E-4755-9EB9-26EBACCF2799}"/>
              </a:ext>
            </a:extLst>
          </p:cNvPr>
          <p:cNvCxnSpPr>
            <a:cxnSpLocks/>
          </p:cNvCxnSpPr>
          <p:nvPr/>
        </p:nvCxnSpPr>
        <p:spPr>
          <a:xfrm flipV="1">
            <a:off x="3571875" y="1487292"/>
            <a:ext cx="0" cy="70328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A831277-21DB-4961-A3E0-99AD005C6806}"/>
              </a:ext>
            </a:extLst>
          </p:cNvPr>
          <p:cNvCxnSpPr>
            <a:cxnSpLocks/>
          </p:cNvCxnSpPr>
          <p:nvPr/>
        </p:nvCxnSpPr>
        <p:spPr>
          <a:xfrm>
            <a:off x="3571875" y="2190573"/>
            <a:ext cx="12954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313D2ACC-5E79-40D5-A171-15153B777C22}"/>
              </a:ext>
            </a:extLst>
          </p:cNvPr>
          <p:cNvCxnSpPr>
            <a:cxnSpLocks/>
          </p:cNvCxnSpPr>
          <p:nvPr/>
        </p:nvCxnSpPr>
        <p:spPr>
          <a:xfrm>
            <a:off x="4867275" y="1487291"/>
            <a:ext cx="0" cy="703282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69D477F9-3E9E-4372-B2B3-D8319284EB6A}"/>
              </a:ext>
            </a:extLst>
          </p:cNvPr>
          <p:cNvCxnSpPr>
            <a:cxnSpLocks/>
          </p:cNvCxnSpPr>
          <p:nvPr/>
        </p:nvCxnSpPr>
        <p:spPr>
          <a:xfrm>
            <a:off x="4867275" y="1492295"/>
            <a:ext cx="5019675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715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49452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MLOps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25376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6BA4D6-05D8-4FED-9BC7-7498F6422744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">
            <a:extLst>
              <a:ext uri="{FF2B5EF4-FFF2-40B4-BE49-F238E27FC236}">
                <a16:creationId xmlns:a16="http://schemas.microsoft.com/office/drawing/2014/main" id="{9889F31F-DAF2-443E-971A-0365D017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6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E409EF-7C42-4807-B7D3-54B424223A87}"/>
              </a:ext>
            </a:extLst>
          </p:cNvPr>
          <p:cNvSpPr txBox="1"/>
          <p:nvPr/>
        </p:nvSpPr>
        <p:spPr>
          <a:xfrm>
            <a:off x="4585152" y="4963675"/>
            <a:ext cx="56742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여러 모델 비교</a:t>
            </a:r>
            <a:endParaRPr lang="en-US" altLang="ko-KR" dirty="0"/>
          </a:p>
          <a:p>
            <a:pPr lvl="1"/>
            <a:r>
              <a:rPr lang="ko-KR" altLang="en-US" sz="1600" dirty="0"/>
              <a:t>어떤 파라미터와 알고리즘으로 학습했는지</a:t>
            </a:r>
            <a:r>
              <a:rPr lang="en-US" altLang="ko-KR" sz="1600" dirty="0"/>
              <a:t>?</a:t>
            </a:r>
          </a:p>
          <a:p>
            <a:pPr lvl="1"/>
            <a:r>
              <a:rPr lang="en-US" altLang="ko-KR" sz="1600" dirty="0"/>
              <a:t>Feature</a:t>
            </a:r>
            <a:r>
              <a:rPr lang="ko-KR" altLang="en-US" sz="1600" dirty="0"/>
              <a:t>변경은 어떤 영향이 있었는지</a:t>
            </a:r>
            <a:r>
              <a:rPr lang="en-US" altLang="ko-KR" sz="1600" dirty="0"/>
              <a:t>?</a:t>
            </a:r>
          </a:p>
          <a:p>
            <a:pPr lvl="1"/>
            <a:r>
              <a:rPr lang="ko-KR" altLang="en-US" sz="1600" dirty="0"/>
              <a:t>지난 번에 쓴 스크립트는 어느 버전이었고 그때 상세 로그는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C1FBBD41-41A3-4AA1-A322-8E3E9B7ED513}"/>
              </a:ext>
            </a:extLst>
          </p:cNvPr>
          <p:cNvSpPr/>
          <p:nvPr/>
        </p:nvSpPr>
        <p:spPr>
          <a:xfrm>
            <a:off x="10115828" y="5182124"/>
            <a:ext cx="1838325" cy="709009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실험추적관리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2C7F87-9CAC-4DB5-9488-942B07637B18}"/>
              </a:ext>
            </a:extLst>
          </p:cNvPr>
          <p:cNvSpPr txBox="1"/>
          <p:nvPr/>
        </p:nvSpPr>
        <p:spPr>
          <a:xfrm>
            <a:off x="615498" y="982343"/>
            <a:ext cx="3969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실험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모델학습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최적화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비교평가</a:t>
            </a:r>
            <a:endParaRPr lang="en-US" altLang="ko-KR" sz="1400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3489E9DB-EEF6-41EC-AB94-DB394E4E0C5D}"/>
              </a:ext>
            </a:extLst>
          </p:cNvPr>
          <p:cNvGrpSpPr/>
          <p:nvPr/>
        </p:nvGrpSpPr>
        <p:grpSpPr>
          <a:xfrm>
            <a:off x="1820153" y="1551141"/>
            <a:ext cx="7851601" cy="3755718"/>
            <a:chOff x="1239128" y="1457205"/>
            <a:chExt cx="7851601" cy="3755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CBD9D1C-570D-423D-BEA8-42C58CF619B7}"/>
                </a:ext>
              </a:extLst>
            </p:cNvPr>
            <p:cNvSpPr/>
            <p:nvPr/>
          </p:nvSpPr>
          <p:spPr>
            <a:xfrm>
              <a:off x="1239128" y="1906176"/>
              <a:ext cx="1728127" cy="631474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Dataset 1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62E5CC0-0DE0-4D66-8B93-93D443A3627D}"/>
                </a:ext>
              </a:extLst>
            </p:cNvPr>
            <p:cNvSpPr/>
            <p:nvPr/>
          </p:nvSpPr>
          <p:spPr>
            <a:xfrm>
              <a:off x="1239128" y="3137001"/>
              <a:ext cx="1728127" cy="631474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Training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Algorithm 1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E0962B-DA09-4BDB-BB13-C1F19B0D43CB}"/>
                </a:ext>
              </a:extLst>
            </p:cNvPr>
            <p:cNvSpPr/>
            <p:nvPr/>
          </p:nvSpPr>
          <p:spPr>
            <a:xfrm>
              <a:off x="1239128" y="4207243"/>
              <a:ext cx="1728127" cy="631474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Hyperparameter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Values – config 1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3604B1-8688-44A8-92C0-A7EEE9275205}"/>
                </a:ext>
              </a:extLst>
            </p:cNvPr>
            <p:cNvSpPr txBox="1"/>
            <p:nvPr/>
          </p:nvSpPr>
          <p:spPr>
            <a:xfrm>
              <a:off x="1495147" y="1457205"/>
              <a:ext cx="1336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&lt;input&gt;</a:t>
              </a:r>
              <a:endParaRPr lang="ko-KR" altLang="en-US" b="1" dirty="0"/>
            </a:p>
          </p:txBody>
        </p:sp>
        <p:cxnSp>
          <p:nvCxnSpPr>
            <p:cNvPr id="11" name="연결선: 꺾임 10">
              <a:extLst>
                <a:ext uri="{FF2B5EF4-FFF2-40B4-BE49-F238E27FC236}">
                  <a16:creationId xmlns:a16="http://schemas.microsoft.com/office/drawing/2014/main" id="{EC94BA32-345F-42CF-874B-025AA2FC9FFA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2967255" y="2221913"/>
              <a:ext cx="1510119" cy="1268985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3B7BC5A8-086C-42BF-9251-51CB740F9ADE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>
              <a:off x="6451873" y="3656372"/>
              <a:ext cx="83674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B59B535-100C-449D-BFBB-3C835DB79E6E}"/>
                </a:ext>
              </a:extLst>
            </p:cNvPr>
            <p:cNvSpPr/>
            <p:nvPr/>
          </p:nvSpPr>
          <p:spPr>
            <a:xfrm>
              <a:off x="7330599" y="3140303"/>
              <a:ext cx="1376101" cy="701637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Model 1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7D11E78-0809-4494-A6D4-89E240BE4CE8}"/>
                </a:ext>
              </a:extLst>
            </p:cNvPr>
            <p:cNvSpPr txBox="1"/>
            <p:nvPr/>
          </p:nvSpPr>
          <p:spPr>
            <a:xfrm>
              <a:off x="7318597" y="2774383"/>
              <a:ext cx="1336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&lt;output&gt;</a:t>
              </a:r>
              <a:endParaRPr lang="ko-KR" altLang="en-US" b="1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FCC8BFB-9264-4DC7-A364-B412BFA5D1EF}"/>
                </a:ext>
              </a:extLst>
            </p:cNvPr>
            <p:cNvSpPr/>
            <p:nvPr/>
          </p:nvSpPr>
          <p:spPr>
            <a:xfrm>
              <a:off x="1367137" y="4331978"/>
              <a:ext cx="1728127" cy="631474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Hyperparameter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Values – config 2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C178A50-5BD5-46C8-A262-460868420787}"/>
                </a:ext>
              </a:extLst>
            </p:cNvPr>
            <p:cNvSpPr/>
            <p:nvPr/>
          </p:nvSpPr>
          <p:spPr>
            <a:xfrm>
              <a:off x="7458609" y="3265039"/>
              <a:ext cx="1376101" cy="701637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Model 2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F31416C-0D11-4A0A-A81F-3ADF6A0A4435}"/>
                </a:ext>
              </a:extLst>
            </p:cNvPr>
            <p:cNvSpPr/>
            <p:nvPr/>
          </p:nvSpPr>
          <p:spPr>
            <a:xfrm>
              <a:off x="1367137" y="3261736"/>
              <a:ext cx="1728127" cy="631474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Training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Algorithm 2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51F35C7-4097-44CD-B991-E8C92A47BD9E}"/>
                </a:ext>
              </a:extLst>
            </p:cNvPr>
            <p:cNvSpPr/>
            <p:nvPr/>
          </p:nvSpPr>
          <p:spPr>
            <a:xfrm>
              <a:off x="7586618" y="3389774"/>
              <a:ext cx="1376101" cy="701637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Model 3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80B78C3-75D0-49A6-AD49-543D60942371}"/>
                </a:ext>
              </a:extLst>
            </p:cNvPr>
            <p:cNvSpPr/>
            <p:nvPr/>
          </p:nvSpPr>
          <p:spPr>
            <a:xfrm>
              <a:off x="1367137" y="2030912"/>
              <a:ext cx="1728127" cy="631474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Dataset 2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177B688-92B8-42BF-87B6-C5FB9DEE1AE2}"/>
                </a:ext>
              </a:extLst>
            </p:cNvPr>
            <p:cNvSpPr/>
            <p:nvPr/>
          </p:nvSpPr>
          <p:spPr>
            <a:xfrm>
              <a:off x="7714628" y="3514510"/>
              <a:ext cx="1376101" cy="701637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Model 5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7CD607FC-9B61-4007-893A-7ECA2F1E6195}"/>
                </a:ext>
              </a:extLst>
            </p:cNvPr>
            <p:cNvSpPr/>
            <p:nvPr/>
          </p:nvSpPr>
          <p:spPr>
            <a:xfrm>
              <a:off x="1495147" y="3386472"/>
              <a:ext cx="1728127" cy="631474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Training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Algorithm 3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B7ACBE6-0469-43B3-BF4D-6D3AD1613FF8}"/>
                </a:ext>
              </a:extLst>
            </p:cNvPr>
            <p:cNvSpPr/>
            <p:nvPr/>
          </p:nvSpPr>
          <p:spPr>
            <a:xfrm>
              <a:off x="1495147" y="4456714"/>
              <a:ext cx="1728127" cy="631474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Hyperparameter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Values – config 2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0B326B40-7368-468A-B445-CA33079345C1}"/>
                </a:ext>
              </a:extLst>
            </p:cNvPr>
            <p:cNvCxnSpPr>
              <a:cxnSpLocks/>
            </p:cNvCxnSpPr>
            <p:nvPr/>
          </p:nvCxnSpPr>
          <p:spPr>
            <a:xfrm>
              <a:off x="3223274" y="3675861"/>
              <a:ext cx="12541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FEAE8864-E924-4861-9749-EB0DBE84AC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7255" y="3932072"/>
              <a:ext cx="1510119" cy="950579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B0D8E43-F6E1-4870-994A-F88D0C369349}"/>
                </a:ext>
              </a:extLst>
            </p:cNvPr>
            <p:cNvSpPr/>
            <p:nvPr/>
          </p:nvSpPr>
          <p:spPr>
            <a:xfrm>
              <a:off x="1623156" y="4581449"/>
              <a:ext cx="1728127" cy="631474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Hyperparameter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Values – config 4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" name="구름 3">
              <a:extLst>
                <a:ext uri="{FF2B5EF4-FFF2-40B4-BE49-F238E27FC236}">
                  <a16:creationId xmlns:a16="http://schemas.microsoft.com/office/drawing/2014/main" id="{9ADEA594-6E9E-462D-95B8-56FBDB251C9B}"/>
                </a:ext>
              </a:extLst>
            </p:cNvPr>
            <p:cNvSpPr/>
            <p:nvPr/>
          </p:nvSpPr>
          <p:spPr>
            <a:xfrm>
              <a:off x="4477374" y="3098960"/>
              <a:ext cx="1976146" cy="1114824"/>
            </a:xfrm>
            <a:prstGeom prst="clou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Model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Training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Infrastructure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0289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MLOps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7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5AB8CE-6232-40A2-9D5D-728244495FB4}"/>
              </a:ext>
            </a:extLst>
          </p:cNvPr>
          <p:cNvSpPr txBox="1"/>
          <p:nvPr/>
        </p:nvSpPr>
        <p:spPr>
          <a:xfrm>
            <a:off x="62918" y="6514961"/>
            <a:ext cx="23531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https://youtu.be/q2N6NZKxipg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7F0C29A-022A-4DF8-9FD8-47225A75D1AA}"/>
              </a:ext>
            </a:extLst>
          </p:cNvPr>
          <p:cNvGrpSpPr/>
          <p:nvPr/>
        </p:nvGrpSpPr>
        <p:grpSpPr>
          <a:xfrm>
            <a:off x="2074843" y="1087912"/>
            <a:ext cx="8042312" cy="1631330"/>
            <a:chOff x="850085" y="2263419"/>
            <a:chExt cx="10416331" cy="2711145"/>
          </a:xfrm>
        </p:grpSpPr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2C1CC928-55F6-45EB-B213-8F2BDDEF9DDA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2251046" y="2561449"/>
              <a:ext cx="901537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F2E6BF0-4DD2-4B0B-8149-EA4EC17E2467}"/>
                </a:ext>
              </a:extLst>
            </p:cNvPr>
            <p:cNvSpPr/>
            <p:nvPr/>
          </p:nvSpPr>
          <p:spPr>
            <a:xfrm>
              <a:off x="850085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가져오기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47939F6-4E18-45ED-BA40-42F0E2D072D7}"/>
                </a:ext>
              </a:extLst>
            </p:cNvPr>
            <p:cNvSpPr/>
            <p:nvPr/>
          </p:nvSpPr>
          <p:spPr>
            <a:xfrm>
              <a:off x="2964111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탐색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CE9E822-5C07-4F3E-BE2C-BDEF9E117D5D}"/>
                </a:ext>
              </a:extLst>
            </p:cNvPr>
            <p:cNvSpPr/>
            <p:nvPr/>
          </p:nvSpPr>
          <p:spPr>
            <a:xfrm>
              <a:off x="5078137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가공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0358CE5-612C-4833-A939-9BD64EB536C4}"/>
                </a:ext>
              </a:extLst>
            </p:cNvPr>
            <p:cNvSpPr/>
            <p:nvPr/>
          </p:nvSpPr>
          <p:spPr>
            <a:xfrm>
              <a:off x="7192163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검증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3585D35-41DE-4029-B96E-FBC1325CDB6D}"/>
                </a:ext>
              </a:extLst>
            </p:cNvPr>
            <p:cNvSpPr/>
            <p:nvPr/>
          </p:nvSpPr>
          <p:spPr>
            <a:xfrm>
              <a:off x="9306188" y="2263419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나누기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BD9D6D9-134D-4686-91C9-63A89310E34B}"/>
                </a:ext>
              </a:extLst>
            </p:cNvPr>
            <p:cNvSpPr/>
            <p:nvPr/>
          </p:nvSpPr>
          <p:spPr>
            <a:xfrm>
              <a:off x="2964111" y="3348743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학습 방법 결정</a:t>
              </a: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FF72B563-8C33-480A-BA39-C1416A6BACB7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 flipV="1">
              <a:off x="4365072" y="4676534"/>
              <a:ext cx="4941116" cy="185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69D45AB-22A4-4C8A-B663-22ADD2BD0CC8}"/>
                </a:ext>
              </a:extLst>
            </p:cNvPr>
            <p:cNvSpPr/>
            <p:nvPr/>
          </p:nvSpPr>
          <p:spPr>
            <a:xfrm>
              <a:off x="2964111" y="4415546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대규모 배포 준비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4FF8CD7-753D-4EBC-813E-E78E093A0768}"/>
                </a:ext>
              </a:extLst>
            </p:cNvPr>
            <p:cNvSpPr/>
            <p:nvPr/>
          </p:nvSpPr>
          <p:spPr>
            <a:xfrm>
              <a:off x="5078137" y="4415546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배포 </a:t>
              </a:r>
              <a:r>
                <a:rPr lang="en-US" altLang="ko-KR" sz="1050" dirty="0">
                  <a:solidFill>
                    <a:schemeClr val="tx1"/>
                  </a:solidFill>
                </a:rPr>
                <a:t>/ </a:t>
              </a:r>
              <a:r>
                <a:rPr lang="ko-KR" altLang="en-US" sz="1050" dirty="0">
                  <a:solidFill>
                    <a:schemeClr val="tx1"/>
                  </a:solidFill>
                </a:rPr>
                <a:t>운영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5D4EFC4-068E-41F7-BA0C-0DF43628EBF4}"/>
                </a:ext>
              </a:extLst>
            </p:cNvPr>
            <p:cNvSpPr/>
            <p:nvPr/>
          </p:nvSpPr>
          <p:spPr>
            <a:xfrm>
              <a:off x="7192163" y="4415546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로깅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451F0D4-2BAE-4CA2-97D1-3E1A77EE95C2}"/>
                </a:ext>
              </a:extLst>
            </p:cNvPr>
            <p:cNvSpPr/>
            <p:nvPr/>
          </p:nvSpPr>
          <p:spPr>
            <a:xfrm>
              <a:off x="9306188" y="4397025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모니터링</a:t>
              </a:r>
            </a:p>
          </p:txBody>
        </p: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8A94B7BF-B0FE-4094-BCAD-E2F130711A6B}"/>
                </a:ext>
              </a:extLst>
            </p:cNvPr>
            <p:cNvCxnSpPr>
              <a:cxnSpLocks/>
              <a:stCxn id="37" idx="2"/>
              <a:endCxn id="21" idx="2"/>
            </p:cNvCxnSpPr>
            <p:nvPr/>
          </p:nvCxnSpPr>
          <p:spPr>
            <a:xfrm rot="5400000" flipH="1">
              <a:off x="4721075" y="-329550"/>
              <a:ext cx="2115085" cy="8456103"/>
            </a:xfrm>
            <a:prstGeom prst="bentConnector3">
              <a:avLst>
                <a:gd name="adj1" fmla="val -10808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D7B802EF-EB81-4B0B-91FE-8E3B281395B2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>
              <a:off x="4365072" y="3628252"/>
              <a:ext cx="690134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5E43317-D606-4C05-93B8-D6A318AF7ADB}"/>
                </a:ext>
              </a:extLst>
            </p:cNvPr>
            <p:cNvSpPr/>
            <p:nvPr/>
          </p:nvSpPr>
          <p:spPr>
            <a:xfrm>
              <a:off x="5078137" y="3348743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모델 만들기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E8EABEF-7D52-4EDA-89F3-70CB4568415E}"/>
                </a:ext>
              </a:extLst>
            </p:cNvPr>
            <p:cNvSpPr/>
            <p:nvPr/>
          </p:nvSpPr>
          <p:spPr>
            <a:xfrm>
              <a:off x="7192163" y="3348743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모델 검증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AED4FCBB-F4C7-4A2F-A288-133D4D2A5AE9}"/>
                </a:ext>
              </a:extLst>
            </p:cNvPr>
            <p:cNvSpPr/>
            <p:nvPr/>
          </p:nvSpPr>
          <p:spPr>
            <a:xfrm>
              <a:off x="9306188" y="3330222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대규모 학습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A334635-51BD-40C3-98C1-D32EC38A5359}"/>
              </a:ext>
            </a:extLst>
          </p:cNvPr>
          <p:cNvSpPr txBox="1"/>
          <p:nvPr/>
        </p:nvSpPr>
        <p:spPr>
          <a:xfrm>
            <a:off x="613986" y="3459183"/>
            <a:ext cx="67437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모델해석</a:t>
            </a:r>
            <a:endParaRPr lang="en-US" altLang="ko-K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모델 해석의 중요성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모델 디버깅</a:t>
            </a:r>
            <a:r>
              <a:rPr lang="en-US" altLang="ko-KR" sz="1400" dirty="0"/>
              <a:t>(</a:t>
            </a:r>
            <a:r>
              <a:rPr lang="ko-KR" altLang="en-US" sz="1400" dirty="0"/>
              <a:t>왜 내 모델이 잘못 예측했는지</a:t>
            </a:r>
            <a:r>
              <a:rPr lang="en-US" altLang="ko-KR" sz="1400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모델 공정성 판단</a:t>
            </a:r>
            <a:r>
              <a:rPr lang="en-US" altLang="ko-KR" sz="1400" dirty="0"/>
              <a:t>(</a:t>
            </a:r>
            <a:r>
              <a:rPr lang="ko-KR" altLang="en-US" sz="1400" dirty="0"/>
              <a:t>내 모델이 알게 모르게 차별하고 있진 </a:t>
            </a:r>
            <a:r>
              <a:rPr lang="ko-KR" altLang="en-US" sz="1400" dirty="0" err="1"/>
              <a:t>않은지</a:t>
            </a:r>
            <a:r>
              <a:rPr lang="en-US" altLang="ko-KR" sz="1400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사람과 </a:t>
            </a:r>
            <a:r>
              <a:rPr lang="en-US" altLang="ko-KR" sz="1400" dirty="0"/>
              <a:t>AI</a:t>
            </a:r>
            <a:r>
              <a:rPr lang="ko-KR" altLang="en-US" sz="1400" dirty="0"/>
              <a:t>의 협력</a:t>
            </a:r>
            <a:r>
              <a:rPr lang="en-US" altLang="ko-KR" sz="1400" dirty="0"/>
              <a:t>(</a:t>
            </a:r>
            <a:r>
              <a:rPr lang="ko-KR" altLang="en-US" sz="1400" dirty="0"/>
              <a:t>나는 어떻게 모델의 예측을 이해하고 믿는지</a:t>
            </a:r>
            <a:r>
              <a:rPr lang="en-US" altLang="ko-KR" sz="1400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규제 및 컴플라이언스</a:t>
            </a:r>
            <a:r>
              <a:rPr lang="en-US" altLang="ko-KR" sz="1400" dirty="0"/>
              <a:t>(</a:t>
            </a:r>
            <a:r>
              <a:rPr lang="ko-KR" altLang="en-US" sz="1400" dirty="0"/>
              <a:t>내 모델이 법적인 요건을 만족하는지</a:t>
            </a:r>
            <a:r>
              <a:rPr lang="en-US" altLang="ko-KR" sz="1400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高리스크 영역</a:t>
            </a:r>
            <a:r>
              <a:rPr lang="en-US" altLang="ko-KR" sz="1400" dirty="0"/>
              <a:t>(</a:t>
            </a:r>
            <a:r>
              <a:rPr lang="ko-KR" altLang="en-US" sz="1400" dirty="0"/>
              <a:t>의료</a:t>
            </a:r>
            <a:r>
              <a:rPr lang="en-US" altLang="ko-KR" sz="1400" dirty="0"/>
              <a:t>, </a:t>
            </a:r>
            <a:r>
              <a:rPr lang="ko-KR" altLang="en-US" sz="1400" dirty="0"/>
              <a:t>금융</a:t>
            </a:r>
            <a:r>
              <a:rPr lang="en-US" altLang="ko-KR" sz="1400" dirty="0"/>
              <a:t>, </a:t>
            </a:r>
            <a:r>
              <a:rPr lang="ko-KR" altLang="en-US" sz="1400" dirty="0"/>
              <a:t>법률</a:t>
            </a:r>
            <a:r>
              <a:rPr lang="en-US" altLang="ko-KR" sz="1400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모델 해석 알고리즘</a:t>
            </a:r>
            <a:endParaRPr lang="en-US" altLang="ko-KR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1F0569D-B4B0-4D5E-9BE6-FF51B09389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13"/>
          <a:stretch/>
        </p:blipFill>
        <p:spPr>
          <a:xfrm>
            <a:off x="7452936" y="4042336"/>
            <a:ext cx="3969653" cy="217748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9143146-8A95-469E-85F8-4E67A3AC3988}"/>
              </a:ext>
            </a:extLst>
          </p:cNvPr>
          <p:cNvSpPr txBox="1"/>
          <p:nvPr/>
        </p:nvSpPr>
        <p:spPr>
          <a:xfrm>
            <a:off x="7179656" y="3673004"/>
            <a:ext cx="2404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모델 해석 알고리즘</a:t>
            </a:r>
            <a:endParaRPr lang="en-US" altLang="ko-KR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C2C4DED-ABA7-4BF0-8776-C5DEED0C24DD}"/>
              </a:ext>
            </a:extLst>
          </p:cNvPr>
          <p:cNvSpPr/>
          <p:nvPr/>
        </p:nvSpPr>
        <p:spPr>
          <a:xfrm>
            <a:off x="6929855" y="1615683"/>
            <a:ext cx="1164910" cy="58692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966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MLOps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8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5AB8CE-6232-40A2-9D5D-728244495FB4}"/>
              </a:ext>
            </a:extLst>
          </p:cNvPr>
          <p:cNvSpPr txBox="1"/>
          <p:nvPr/>
        </p:nvSpPr>
        <p:spPr>
          <a:xfrm>
            <a:off x="62918" y="6514961"/>
            <a:ext cx="23531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https://youtu.be/q2N6NZKxipg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7F0C29A-022A-4DF8-9FD8-47225A75D1AA}"/>
              </a:ext>
            </a:extLst>
          </p:cNvPr>
          <p:cNvGrpSpPr/>
          <p:nvPr/>
        </p:nvGrpSpPr>
        <p:grpSpPr>
          <a:xfrm>
            <a:off x="2074843" y="1087912"/>
            <a:ext cx="8042312" cy="1631330"/>
            <a:chOff x="850085" y="2263419"/>
            <a:chExt cx="10416331" cy="2711145"/>
          </a:xfrm>
        </p:grpSpPr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2C1CC928-55F6-45EB-B213-8F2BDDEF9DDA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2251046" y="2561449"/>
              <a:ext cx="901537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F2E6BF0-4DD2-4B0B-8149-EA4EC17E2467}"/>
                </a:ext>
              </a:extLst>
            </p:cNvPr>
            <p:cNvSpPr/>
            <p:nvPr/>
          </p:nvSpPr>
          <p:spPr>
            <a:xfrm>
              <a:off x="850085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가져오기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47939F6-4E18-45ED-BA40-42F0E2D072D7}"/>
                </a:ext>
              </a:extLst>
            </p:cNvPr>
            <p:cNvSpPr/>
            <p:nvPr/>
          </p:nvSpPr>
          <p:spPr>
            <a:xfrm>
              <a:off x="2964111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탐색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CE9E822-5C07-4F3E-BE2C-BDEF9E117D5D}"/>
                </a:ext>
              </a:extLst>
            </p:cNvPr>
            <p:cNvSpPr/>
            <p:nvPr/>
          </p:nvSpPr>
          <p:spPr>
            <a:xfrm>
              <a:off x="5078137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가공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0358CE5-612C-4833-A939-9BD64EB536C4}"/>
                </a:ext>
              </a:extLst>
            </p:cNvPr>
            <p:cNvSpPr/>
            <p:nvPr/>
          </p:nvSpPr>
          <p:spPr>
            <a:xfrm>
              <a:off x="7192163" y="2281940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검증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3585D35-41DE-4029-B96E-FBC1325CDB6D}"/>
                </a:ext>
              </a:extLst>
            </p:cNvPr>
            <p:cNvSpPr/>
            <p:nvPr/>
          </p:nvSpPr>
          <p:spPr>
            <a:xfrm>
              <a:off x="9306188" y="2263419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데이터 나누기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BD9D6D9-134D-4686-91C9-63A89310E34B}"/>
                </a:ext>
              </a:extLst>
            </p:cNvPr>
            <p:cNvSpPr/>
            <p:nvPr/>
          </p:nvSpPr>
          <p:spPr>
            <a:xfrm>
              <a:off x="2964111" y="3348743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학습 방법 결정</a:t>
              </a: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FF72B563-8C33-480A-BA39-C1416A6BACB7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 flipV="1">
              <a:off x="4365072" y="4676534"/>
              <a:ext cx="4941116" cy="1852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69D45AB-22A4-4C8A-B663-22ADD2BD0CC8}"/>
                </a:ext>
              </a:extLst>
            </p:cNvPr>
            <p:cNvSpPr/>
            <p:nvPr/>
          </p:nvSpPr>
          <p:spPr>
            <a:xfrm>
              <a:off x="2964111" y="4415546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대규모 배포 준비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4FF8CD7-753D-4EBC-813E-E78E093A0768}"/>
                </a:ext>
              </a:extLst>
            </p:cNvPr>
            <p:cNvSpPr/>
            <p:nvPr/>
          </p:nvSpPr>
          <p:spPr>
            <a:xfrm>
              <a:off x="5078137" y="4415546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배포 </a:t>
              </a:r>
              <a:r>
                <a:rPr lang="en-US" altLang="ko-KR" sz="1050" dirty="0">
                  <a:solidFill>
                    <a:schemeClr val="tx1"/>
                  </a:solidFill>
                </a:rPr>
                <a:t>/ </a:t>
              </a:r>
              <a:r>
                <a:rPr lang="ko-KR" altLang="en-US" sz="1050" dirty="0">
                  <a:solidFill>
                    <a:schemeClr val="tx1"/>
                  </a:solidFill>
                </a:rPr>
                <a:t>운영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5D4EFC4-068E-41F7-BA0C-0DF43628EBF4}"/>
                </a:ext>
              </a:extLst>
            </p:cNvPr>
            <p:cNvSpPr/>
            <p:nvPr/>
          </p:nvSpPr>
          <p:spPr>
            <a:xfrm>
              <a:off x="7192163" y="4415546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로깅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451F0D4-2BAE-4CA2-97D1-3E1A77EE95C2}"/>
                </a:ext>
              </a:extLst>
            </p:cNvPr>
            <p:cNvSpPr/>
            <p:nvPr/>
          </p:nvSpPr>
          <p:spPr>
            <a:xfrm>
              <a:off x="9306188" y="4397025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모니터링</a:t>
              </a:r>
            </a:p>
          </p:txBody>
        </p: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8A94B7BF-B0FE-4094-BCAD-E2F130711A6B}"/>
                </a:ext>
              </a:extLst>
            </p:cNvPr>
            <p:cNvCxnSpPr>
              <a:cxnSpLocks/>
              <a:stCxn id="37" idx="2"/>
              <a:endCxn id="21" idx="2"/>
            </p:cNvCxnSpPr>
            <p:nvPr/>
          </p:nvCxnSpPr>
          <p:spPr>
            <a:xfrm rot="5400000" flipH="1">
              <a:off x="4721075" y="-329550"/>
              <a:ext cx="2115085" cy="8456103"/>
            </a:xfrm>
            <a:prstGeom prst="bentConnector3">
              <a:avLst>
                <a:gd name="adj1" fmla="val -10808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D7B802EF-EB81-4B0B-91FE-8E3B281395B2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>
              <a:off x="4365072" y="3628252"/>
              <a:ext cx="690134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5E43317-D606-4C05-93B8-D6A318AF7ADB}"/>
                </a:ext>
              </a:extLst>
            </p:cNvPr>
            <p:cNvSpPr/>
            <p:nvPr/>
          </p:nvSpPr>
          <p:spPr>
            <a:xfrm>
              <a:off x="5078137" y="3348743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모델 만들기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E8EABEF-7D52-4EDA-89F3-70CB4568415E}"/>
                </a:ext>
              </a:extLst>
            </p:cNvPr>
            <p:cNvSpPr/>
            <p:nvPr/>
          </p:nvSpPr>
          <p:spPr>
            <a:xfrm>
              <a:off x="7192163" y="3348743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모델 검증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AED4FCBB-F4C7-4A2F-A288-133D4D2A5AE9}"/>
                </a:ext>
              </a:extLst>
            </p:cNvPr>
            <p:cNvSpPr/>
            <p:nvPr/>
          </p:nvSpPr>
          <p:spPr>
            <a:xfrm>
              <a:off x="9306188" y="3330222"/>
              <a:ext cx="1400961" cy="55901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대규모 학습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F42B7A5-8256-48CF-B548-C77FC62690F2}"/>
              </a:ext>
            </a:extLst>
          </p:cNvPr>
          <p:cNvSpPr txBox="1"/>
          <p:nvPr/>
        </p:nvSpPr>
        <p:spPr>
          <a:xfrm>
            <a:off x="134978" y="3429000"/>
            <a:ext cx="450369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배포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서빙</a:t>
            </a:r>
            <a:endParaRPr lang="en-US" altLang="ko-KR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가장 좋은 모델을 선택</a:t>
            </a:r>
            <a:endParaRPr lang="en-US" altLang="ko-KR" dirty="0"/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	</a:t>
            </a:r>
            <a:r>
              <a:rPr lang="en-US" altLang="ko-KR" sz="1600" dirty="0">
                <a:sym typeface="Wingdings" panose="05000000000000000000" pitchFamily="2" charset="2"/>
              </a:rPr>
              <a:t></a:t>
            </a:r>
            <a:r>
              <a:rPr lang="en-US" altLang="ko-KR" sz="1600" dirty="0"/>
              <a:t> </a:t>
            </a:r>
            <a:r>
              <a:rPr lang="ko-KR" altLang="en-US" sz="1600" dirty="0"/>
              <a:t>서비스화 하기 위해 모델 등록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어떤 패키지로 어떤 로직으로 예측할지</a:t>
            </a:r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148729-1BB1-4CDA-8F25-0A2101724A91}"/>
              </a:ext>
            </a:extLst>
          </p:cNvPr>
          <p:cNvSpPr txBox="1"/>
          <p:nvPr/>
        </p:nvSpPr>
        <p:spPr>
          <a:xfrm>
            <a:off x="4788718" y="3443340"/>
            <a:ext cx="726830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모델의 모니터링 데이터 </a:t>
            </a:r>
            <a:r>
              <a:rPr lang="ko-KR" altLang="en-US" sz="2000" b="1" dirty="0" err="1"/>
              <a:t>드리프트</a:t>
            </a:r>
            <a:r>
              <a:rPr lang="en-US" altLang="ko-KR" sz="2000" b="1" dirty="0"/>
              <a:t>(Data Drift)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데이터의 패턴 특성이 시간이 지나며 변하는 현상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학습에 활용된 데이터와 차이가 커질수록 예측 성능이 저하될 가능성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Data Drift</a:t>
            </a:r>
            <a:r>
              <a:rPr lang="ko-KR" altLang="en-US" dirty="0"/>
              <a:t>여부를 지속적으로 모니터링</a:t>
            </a:r>
            <a:endParaRPr lang="en-US" altLang="ko-KR" dirty="0"/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	</a:t>
            </a:r>
            <a:r>
              <a:rPr lang="en-US" altLang="ko-KR" dirty="0"/>
              <a:t> </a:t>
            </a:r>
            <a:r>
              <a:rPr lang="ko-KR" altLang="en-US" dirty="0"/>
              <a:t>모델 </a:t>
            </a:r>
            <a:r>
              <a:rPr lang="ko-KR" altLang="en-US" dirty="0" err="1"/>
              <a:t>재학습</a:t>
            </a:r>
            <a:r>
              <a:rPr lang="ko-KR" altLang="en-US" dirty="0"/>
              <a:t> 시점 판단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03163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F8052-2C41-437E-82E0-B5FF97915D00}"/>
              </a:ext>
            </a:extLst>
          </p:cNvPr>
          <p:cNvSpPr txBox="1"/>
          <p:nvPr/>
        </p:nvSpPr>
        <p:spPr>
          <a:xfrm>
            <a:off x="807326" y="2110165"/>
            <a:ext cx="10839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+mj-lt"/>
                <a:ea typeface="나눔스퀘어OTF_ac ExtraBold" panose="020B0600000101010101" pitchFamily="34" charset="-127"/>
                <a:cs typeface="Arial" panose="020B0604020202020204" pitchFamily="34" charset="0"/>
              </a:rPr>
              <a:t>Azure</a:t>
            </a:r>
            <a:endParaRPr lang="ko-KR" altLang="ko-KR" sz="3200" b="1" dirty="0">
              <a:latin typeface="+mj-lt"/>
              <a:ea typeface="나눔스퀘어OTF_ac Extra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705454BF-E5B3-4F46-91BC-8EC74E006D66}"/>
              </a:ext>
            </a:extLst>
          </p:cNvPr>
          <p:cNvSpPr/>
          <p:nvPr/>
        </p:nvSpPr>
        <p:spPr>
          <a:xfrm>
            <a:off x="1885898" y="1736942"/>
            <a:ext cx="8681901" cy="55060"/>
          </a:xfrm>
          <a:custGeom>
            <a:avLst/>
            <a:gdLst/>
            <a:ahLst/>
            <a:cxnLst/>
            <a:rect l="l" t="t" r="r" b="b"/>
            <a:pathLst>
              <a:path w="8935720" h="41910">
                <a:moveTo>
                  <a:pt x="8935211" y="41910"/>
                </a:moveTo>
                <a:lnTo>
                  <a:pt x="8935211" y="0"/>
                </a:lnTo>
                <a:lnTo>
                  <a:pt x="0" y="0"/>
                </a:lnTo>
                <a:lnTo>
                  <a:pt x="0" y="41910"/>
                </a:lnTo>
                <a:lnTo>
                  <a:pt x="8935211" y="41910"/>
                </a:lnTo>
                <a:close/>
              </a:path>
            </a:pathLst>
          </a:custGeom>
          <a:solidFill>
            <a:srgbClr val="213965"/>
          </a:solidFill>
          <a:ln>
            <a:solidFill>
              <a:srgbClr val="203864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29A82A0-1B59-4AFC-B91D-948238362160}"/>
              </a:ext>
            </a:extLst>
          </p:cNvPr>
          <p:cNvSpPr/>
          <p:nvPr/>
        </p:nvSpPr>
        <p:spPr>
          <a:xfrm>
            <a:off x="1885898" y="2945313"/>
            <a:ext cx="8681901" cy="55060"/>
          </a:xfrm>
          <a:custGeom>
            <a:avLst/>
            <a:gdLst/>
            <a:ahLst/>
            <a:cxnLst/>
            <a:rect l="l" t="t" r="r" b="b"/>
            <a:pathLst>
              <a:path w="8935720" h="41910">
                <a:moveTo>
                  <a:pt x="8935211" y="41910"/>
                </a:moveTo>
                <a:lnTo>
                  <a:pt x="8935211" y="0"/>
                </a:lnTo>
                <a:lnTo>
                  <a:pt x="0" y="0"/>
                </a:lnTo>
                <a:lnTo>
                  <a:pt x="0" y="41910"/>
                </a:lnTo>
                <a:lnTo>
                  <a:pt x="8935211" y="41910"/>
                </a:lnTo>
                <a:close/>
              </a:path>
            </a:pathLst>
          </a:custGeom>
          <a:solidFill>
            <a:srgbClr val="213965"/>
          </a:solidFill>
          <a:ln>
            <a:solidFill>
              <a:srgbClr val="203864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4A4F94-E2BF-4A49-B64F-16A9ED8D0D44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020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Azure Machine Learning Studio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10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3549DF-93C5-45C5-AAD9-D48E9EFA11B8}"/>
              </a:ext>
            </a:extLst>
          </p:cNvPr>
          <p:cNvSpPr txBox="1"/>
          <p:nvPr/>
        </p:nvSpPr>
        <p:spPr>
          <a:xfrm>
            <a:off x="258236" y="6538282"/>
            <a:ext cx="23615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https://cloudmt.co.kr/?p=3546</a:t>
            </a:r>
            <a:endParaRPr lang="ko-KR" altLang="en-US" sz="11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F79BB21-995B-4F41-ACC1-AE430A032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021" y="1585135"/>
            <a:ext cx="4374579" cy="46076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9F1023-25C4-45E6-9BE2-062F5A9AF110}"/>
              </a:ext>
            </a:extLst>
          </p:cNvPr>
          <p:cNvSpPr txBox="1"/>
          <p:nvPr/>
        </p:nvSpPr>
        <p:spPr>
          <a:xfrm>
            <a:off x="615498" y="982343"/>
            <a:ext cx="629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Create an Azure Machine Learning Workspace</a:t>
            </a:r>
            <a:endParaRPr lang="en-US" altLang="ko-KR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AB8A90-697A-4A9B-8E9D-69BD226AFB42}"/>
              </a:ext>
            </a:extLst>
          </p:cNvPr>
          <p:cNvSpPr txBox="1"/>
          <p:nvPr/>
        </p:nvSpPr>
        <p:spPr>
          <a:xfrm>
            <a:off x="5658462" y="1766940"/>
            <a:ext cx="60511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Azure Machine Learning</a:t>
            </a:r>
            <a:r>
              <a:rPr lang="ko-KR" altLang="en-US" dirty="0"/>
              <a:t>은 클라우드 기반 서비스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가상머신으로 모델 학습 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하드웨어 자원 사용한 만큼 과금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Workspace</a:t>
            </a:r>
            <a:r>
              <a:rPr lang="ko-KR" altLang="en-US" dirty="0"/>
              <a:t>에서 데이터</a:t>
            </a:r>
            <a:r>
              <a:rPr lang="en-US" altLang="ko-KR" dirty="0"/>
              <a:t>, </a:t>
            </a:r>
            <a:r>
              <a:rPr lang="ko-KR" altLang="en-US" dirty="0" err="1"/>
              <a:t>컴퓨트</a:t>
            </a:r>
            <a:r>
              <a:rPr lang="ko-KR" altLang="en-US" dirty="0"/>
              <a:t> 자원</a:t>
            </a:r>
            <a:r>
              <a:rPr lang="en-US" altLang="ko-KR" dirty="0"/>
              <a:t>, </a:t>
            </a:r>
            <a:r>
              <a:rPr lang="ko-KR" altLang="en-US" dirty="0"/>
              <a:t>코드</a:t>
            </a:r>
            <a:r>
              <a:rPr lang="en-US" altLang="ko-KR" dirty="0"/>
              <a:t>, </a:t>
            </a:r>
            <a:r>
              <a:rPr lang="ko-KR" altLang="en-US" dirty="0"/>
              <a:t>모델</a:t>
            </a:r>
            <a:r>
              <a:rPr lang="en-US" altLang="ko-KR" dirty="0"/>
              <a:t> </a:t>
            </a:r>
            <a:r>
              <a:rPr lang="ko-KR" altLang="en-US" dirty="0"/>
              <a:t>등의 </a:t>
            </a:r>
            <a:r>
              <a:rPr lang="ko-KR" altLang="en-US" dirty="0" err="1"/>
              <a:t>아티팩트</a:t>
            </a:r>
            <a:r>
              <a:rPr lang="ko-KR" altLang="en-US" dirty="0"/>
              <a:t> 관리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7753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49452"/>
            <a:ext cx="9876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Azure Machine Learning Studio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25376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6BA4D6-05D8-4FED-9BC7-7498F6422744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">
            <a:extLst>
              <a:ext uri="{FF2B5EF4-FFF2-40B4-BE49-F238E27FC236}">
                <a16:creationId xmlns:a16="http://schemas.microsoft.com/office/drawing/2014/main" id="{9889F31F-DAF2-443E-971A-0365D017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11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A24CEE-BAC9-4DC7-B5F7-6A67A9DF7D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61" t="5026"/>
          <a:stretch/>
        </p:blipFill>
        <p:spPr>
          <a:xfrm>
            <a:off x="615498" y="2201903"/>
            <a:ext cx="7034500" cy="36313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FA37923-48D8-4EF0-9366-F767D2D22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998" y="2354341"/>
            <a:ext cx="4178667" cy="332643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E9EE738-D59E-44D3-B639-FE63FD58CB64}"/>
              </a:ext>
            </a:extLst>
          </p:cNvPr>
          <p:cNvSpPr txBox="1"/>
          <p:nvPr/>
        </p:nvSpPr>
        <p:spPr>
          <a:xfrm>
            <a:off x="5753100" y="2712716"/>
            <a:ext cx="1781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가져오고 데이터 구조 파악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214185-06E0-4709-A004-B3ED2BF94062}"/>
              </a:ext>
            </a:extLst>
          </p:cNvPr>
          <p:cNvSpPr txBox="1"/>
          <p:nvPr/>
        </p:nvSpPr>
        <p:spPr>
          <a:xfrm>
            <a:off x="615498" y="982343"/>
            <a:ext cx="6299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Explore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b="1" dirty="0"/>
              <a:t>분류모델 학습</a:t>
            </a:r>
            <a:r>
              <a:rPr lang="en-US" altLang="ko-KR" b="1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클라이언트가 정기예금을 구독할지 예측</a:t>
            </a:r>
            <a:r>
              <a:rPr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82624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Azure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12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066A4E6-6ED1-41BB-99D1-24951B82BE7C}"/>
              </a:ext>
            </a:extLst>
          </p:cNvPr>
          <p:cNvGrpSpPr/>
          <p:nvPr/>
        </p:nvGrpSpPr>
        <p:grpSpPr>
          <a:xfrm>
            <a:off x="1792328" y="1473488"/>
            <a:ext cx="8534400" cy="4727882"/>
            <a:chOff x="52387" y="80962"/>
            <a:chExt cx="12087225" cy="669607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86AFA59-7AF3-4895-9C99-05DBFA310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87" y="80962"/>
              <a:ext cx="12087225" cy="6696075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53017BB-2324-4DDD-8701-CBD7F2F5B41F}"/>
                </a:ext>
              </a:extLst>
            </p:cNvPr>
            <p:cNvSpPr/>
            <p:nvPr/>
          </p:nvSpPr>
          <p:spPr>
            <a:xfrm>
              <a:off x="3101410" y="4426710"/>
              <a:ext cx="8835849" cy="2194672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ko-KR" altLang="en-US" sz="1600" dirty="0">
                  <a:solidFill>
                    <a:schemeClr val="tx1"/>
                  </a:solidFill>
                </a:rPr>
                <a:t>학습 스크립트를 실행하거나 서비스 배포를 호스트 하는데 사용되는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r>
                <a:rPr lang="ko-KR" altLang="en-US" sz="1600" dirty="0">
                  <a:solidFill>
                    <a:schemeClr val="tx1"/>
                  </a:solidFill>
                </a:rPr>
                <a:t>로컬</a:t>
              </a:r>
              <a:r>
                <a:rPr lang="en-US" altLang="ko-KR" sz="1600" dirty="0">
                  <a:solidFill>
                    <a:schemeClr val="tx1"/>
                  </a:solidFill>
                </a:rPr>
                <a:t>/</a:t>
              </a:r>
              <a:r>
                <a:rPr lang="ko-KR" altLang="en-US" sz="1600" dirty="0">
                  <a:solidFill>
                    <a:schemeClr val="tx1"/>
                  </a:solidFill>
                </a:rPr>
                <a:t>클라우드 기반 리소스 환경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r>
                <a:rPr lang="ko-KR" altLang="en-US" sz="1600" dirty="0">
                  <a:solidFill>
                    <a:schemeClr val="tx1"/>
                  </a:solidFill>
                </a:rPr>
                <a:t>클라우드 기반 컴퓨팅을 사용함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E958036-9155-4D7C-B2F6-D6A37BB990E6}"/>
              </a:ext>
            </a:extLst>
          </p:cNvPr>
          <p:cNvSpPr txBox="1"/>
          <p:nvPr/>
        </p:nvSpPr>
        <p:spPr>
          <a:xfrm>
            <a:off x="615498" y="982343"/>
            <a:ext cx="629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Create Compute Resources</a:t>
            </a:r>
          </a:p>
        </p:txBody>
      </p:sp>
    </p:spTree>
    <p:extLst>
      <p:ext uri="{BB962C8B-B14F-4D97-AF65-F5344CB8AC3E}">
        <p14:creationId xmlns:p14="http://schemas.microsoft.com/office/powerpoint/2010/main" val="1634077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Azure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13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BEF3861-BACE-4F7E-BFA1-EA21A68EBDFB}"/>
              </a:ext>
            </a:extLst>
          </p:cNvPr>
          <p:cNvGrpSpPr/>
          <p:nvPr/>
        </p:nvGrpSpPr>
        <p:grpSpPr>
          <a:xfrm>
            <a:off x="1773783" y="1473488"/>
            <a:ext cx="8644432" cy="4705063"/>
            <a:chOff x="4233368" y="1672467"/>
            <a:chExt cx="7583492" cy="412760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DA3496E-3B4F-40FF-92B8-EE05FBB56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33368" y="1672467"/>
              <a:ext cx="7583492" cy="4127606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764B29A-9A31-47C2-8B1D-02C719C3F925}"/>
                </a:ext>
              </a:extLst>
            </p:cNvPr>
            <p:cNvSpPr/>
            <p:nvPr/>
          </p:nvSpPr>
          <p:spPr>
            <a:xfrm>
              <a:off x="5332950" y="2100101"/>
              <a:ext cx="6098098" cy="1009896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ko-KR" altLang="en-US" sz="1400" dirty="0">
                  <a:solidFill>
                    <a:schemeClr val="tx1"/>
                  </a:solidFill>
                </a:rPr>
                <a:t>가상머신 생성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E958036-9155-4D7C-B2F6-D6A37BB990E6}"/>
              </a:ext>
            </a:extLst>
          </p:cNvPr>
          <p:cNvSpPr txBox="1"/>
          <p:nvPr/>
        </p:nvSpPr>
        <p:spPr>
          <a:xfrm>
            <a:off x="615498" y="982343"/>
            <a:ext cx="629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Create Compute Resources</a:t>
            </a:r>
          </a:p>
        </p:txBody>
      </p:sp>
    </p:spTree>
    <p:extLst>
      <p:ext uri="{BB962C8B-B14F-4D97-AF65-F5344CB8AC3E}">
        <p14:creationId xmlns:p14="http://schemas.microsoft.com/office/powerpoint/2010/main" val="3722717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Azure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14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1BCD24-B3D1-4F78-BBF2-B2495E7875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17"/>
          <a:stretch/>
        </p:blipFill>
        <p:spPr>
          <a:xfrm>
            <a:off x="429939" y="1482274"/>
            <a:ext cx="5031804" cy="31155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39D72E1-32DE-4974-83FE-7108FB906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821" y="1496896"/>
            <a:ext cx="3691972" cy="385374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5333A3D-1BF0-4AE6-BACC-9485AA6D1B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4812" b="26419"/>
          <a:stretch/>
        </p:blipFill>
        <p:spPr>
          <a:xfrm>
            <a:off x="9004294" y="1482274"/>
            <a:ext cx="2402661" cy="36766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995D689-49BC-436B-A61B-1F1A02EACC88}"/>
              </a:ext>
            </a:extLst>
          </p:cNvPr>
          <p:cNvSpPr txBox="1"/>
          <p:nvPr/>
        </p:nvSpPr>
        <p:spPr>
          <a:xfrm>
            <a:off x="830796" y="5465076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모델 선택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BB5EE1-69F7-44A0-8DA6-3E90F6A4C095}"/>
              </a:ext>
            </a:extLst>
          </p:cNvPr>
          <p:cNvSpPr txBox="1"/>
          <p:nvPr/>
        </p:nvSpPr>
        <p:spPr>
          <a:xfrm>
            <a:off x="615498" y="982343"/>
            <a:ext cx="629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Train a Machine Learning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812978-4E29-4314-96E5-F7A208976022}"/>
              </a:ext>
            </a:extLst>
          </p:cNvPr>
          <p:cNvSpPr txBox="1"/>
          <p:nvPr/>
        </p:nvSpPr>
        <p:spPr>
          <a:xfrm>
            <a:off x="5305306" y="5465076"/>
            <a:ext cx="225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모델 세부사항 설정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013ABB-3BB5-4A60-856A-C66A3A97C896}"/>
              </a:ext>
            </a:extLst>
          </p:cNvPr>
          <p:cNvSpPr txBox="1"/>
          <p:nvPr/>
        </p:nvSpPr>
        <p:spPr>
          <a:xfrm>
            <a:off x="9103661" y="5465076"/>
            <a:ext cx="225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중 </a:t>
            </a:r>
            <a:r>
              <a:rPr lang="en-US" altLang="ko-KR" dirty="0"/>
              <a:t>……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1487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Azure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15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BD6095-A508-4775-8CA7-26D3F4A5BC64}"/>
              </a:ext>
            </a:extLst>
          </p:cNvPr>
          <p:cNvSpPr txBox="1"/>
          <p:nvPr/>
        </p:nvSpPr>
        <p:spPr>
          <a:xfrm>
            <a:off x="615498" y="982343"/>
            <a:ext cx="629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Train a Machine Learning Model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DBF1E7D-371B-47E1-8164-08E16DCEEC2E}"/>
              </a:ext>
            </a:extLst>
          </p:cNvPr>
          <p:cNvGrpSpPr/>
          <p:nvPr/>
        </p:nvGrpSpPr>
        <p:grpSpPr>
          <a:xfrm>
            <a:off x="1166811" y="1523649"/>
            <a:ext cx="10009027" cy="4726815"/>
            <a:chOff x="1166811" y="1621381"/>
            <a:chExt cx="10009027" cy="472681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070235E-F960-4BC0-9CF7-43CDCC0AF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6811" y="1621381"/>
              <a:ext cx="9634539" cy="4335543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B5DA094-AE51-466F-BBA4-B2F80A763ECA}"/>
                </a:ext>
              </a:extLst>
            </p:cNvPr>
            <p:cNvSpPr/>
            <p:nvPr/>
          </p:nvSpPr>
          <p:spPr>
            <a:xfrm>
              <a:off x="1541299" y="3362326"/>
              <a:ext cx="1944852" cy="2985870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ko-KR" altLang="en-US" sz="1400" dirty="0">
                  <a:solidFill>
                    <a:schemeClr val="tx1"/>
                  </a:solidFill>
                </a:rPr>
                <a:t>사용한 알고리즘</a:t>
              </a:r>
              <a:r>
                <a:rPr lang="en-US" altLang="ko-KR" sz="1400" dirty="0">
                  <a:solidFill>
                    <a:schemeClr val="tx1"/>
                  </a:solidFill>
                </a:rPr>
                <a:t>(</a:t>
              </a:r>
              <a:r>
                <a:rPr lang="ko-KR" altLang="en-US" sz="1400" dirty="0">
                  <a:solidFill>
                    <a:schemeClr val="tx1"/>
                  </a:solidFill>
                </a:rPr>
                <a:t>모델</a:t>
              </a:r>
              <a:r>
                <a:rPr lang="en-US" altLang="ko-KR" sz="1400" dirty="0">
                  <a:solidFill>
                    <a:schemeClr val="tx1"/>
                  </a:solidFill>
                </a:rPr>
                <a:t>)</a:t>
              </a:r>
              <a:r>
                <a:rPr lang="ko-KR" altLang="en-US" sz="1400" dirty="0">
                  <a:solidFill>
                    <a:schemeClr val="tx1"/>
                  </a:solidFill>
                </a:rPr>
                <a:t>을 확인 할 수 있다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C16AB82-3D16-436A-90ED-F6EC6598BD01}"/>
                </a:ext>
              </a:extLst>
            </p:cNvPr>
            <p:cNvSpPr/>
            <p:nvPr/>
          </p:nvSpPr>
          <p:spPr>
            <a:xfrm>
              <a:off x="4762499" y="3362326"/>
              <a:ext cx="668503" cy="2985870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ko-KR" altLang="en-US" sz="1400" dirty="0" err="1">
                  <a:solidFill>
                    <a:schemeClr val="tx1"/>
                  </a:solidFill>
                </a:rPr>
                <a:t>모델별</a:t>
              </a:r>
              <a:r>
                <a:rPr lang="ko-KR" altLang="en-US" sz="1400" dirty="0">
                  <a:solidFill>
                    <a:schemeClr val="tx1"/>
                  </a:solidFill>
                </a:rPr>
                <a:t> 가중치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17B64F0-D731-4507-8AD4-8AB4247A3225}"/>
                </a:ext>
              </a:extLst>
            </p:cNvPr>
            <p:cNvSpPr/>
            <p:nvPr/>
          </p:nvSpPr>
          <p:spPr>
            <a:xfrm>
              <a:off x="8780297" y="3362326"/>
              <a:ext cx="2395541" cy="2985870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ko-KR" altLang="en-US" sz="1400">
                  <a:solidFill>
                    <a:schemeClr val="tx1"/>
                  </a:solidFill>
                </a:rPr>
                <a:t>예측에 사용한 </a:t>
              </a:r>
              <a:r>
                <a:rPr lang="ko-KR" altLang="en-US" sz="1400" dirty="0" err="1">
                  <a:solidFill>
                    <a:schemeClr val="tx1"/>
                  </a:solidFill>
                </a:rPr>
                <a:t>하이퍼파라미터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08990A7-B4F3-4CCC-B4A2-39661EB255DC}"/>
                </a:ext>
              </a:extLst>
            </p:cNvPr>
            <p:cNvSpPr/>
            <p:nvPr/>
          </p:nvSpPr>
          <p:spPr>
            <a:xfrm>
              <a:off x="8037349" y="3362326"/>
              <a:ext cx="535152" cy="2985870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ko-KR" altLang="en-US" sz="1400" dirty="0">
                  <a:solidFill>
                    <a:schemeClr val="tx1"/>
                  </a:solidFill>
                </a:rPr>
                <a:t>소요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r>
                <a:rPr lang="ko-KR" altLang="en-US" sz="1400" dirty="0">
                  <a:solidFill>
                    <a:schemeClr val="tx1"/>
                  </a:solidFill>
                </a:rPr>
                <a:t>시간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E4EA5BF-15B4-419F-B04C-E9D0EDBCCBAE}"/>
              </a:ext>
            </a:extLst>
          </p:cNvPr>
          <p:cNvSpPr txBox="1"/>
          <p:nvPr/>
        </p:nvSpPr>
        <p:spPr>
          <a:xfrm>
            <a:off x="5279546" y="2243492"/>
            <a:ext cx="2757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다수의 모델로 </a:t>
            </a:r>
            <a:r>
              <a:rPr lang="en-US" altLang="ko-KR" dirty="0"/>
              <a:t>y</a:t>
            </a:r>
            <a:r>
              <a:rPr lang="ko-KR" altLang="en-US" dirty="0"/>
              <a:t>를 예측함</a:t>
            </a:r>
          </a:p>
        </p:txBody>
      </p:sp>
    </p:spTree>
    <p:extLst>
      <p:ext uri="{BB962C8B-B14F-4D97-AF65-F5344CB8AC3E}">
        <p14:creationId xmlns:p14="http://schemas.microsoft.com/office/powerpoint/2010/main" val="4122493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Azure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16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351936-B8A7-4BE3-8E3B-1391D6961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37" y="1589517"/>
            <a:ext cx="7632842" cy="40409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4EB574-81F7-4425-BF65-AC6D20D9014C}"/>
              </a:ext>
            </a:extLst>
          </p:cNvPr>
          <p:cNvSpPr txBox="1"/>
          <p:nvPr/>
        </p:nvSpPr>
        <p:spPr>
          <a:xfrm>
            <a:off x="302196" y="4119820"/>
            <a:ext cx="231717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모델설명</a:t>
            </a:r>
            <a:endParaRPr lang="en-US" altLang="ko-KR" dirty="0"/>
          </a:p>
          <a:p>
            <a:endParaRPr lang="en-US" altLang="ko-KR" sz="1600" dirty="0"/>
          </a:p>
          <a:p>
            <a:r>
              <a:rPr lang="ko-KR" altLang="en-US" sz="1600" dirty="0"/>
              <a:t>선택한 모델의 예측에 영향을 미치는 데이터 기능을 보여줌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FACE55-F1E3-4639-AA73-B7E2D0DE22D2}"/>
              </a:ext>
            </a:extLst>
          </p:cNvPr>
          <p:cNvSpPr txBox="1"/>
          <p:nvPr/>
        </p:nvSpPr>
        <p:spPr>
          <a:xfrm>
            <a:off x="2663334" y="5472160"/>
            <a:ext cx="23171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Duration</a:t>
            </a:r>
            <a:r>
              <a:rPr lang="ko-KR" altLang="en-US" sz="1600" dirty="0"/>
              <a:t>변수가 </a:t>
            </a:r>
            <a:endParaRPr lang="en-US" altLang="ko-KR" sz="1600" dirty="0"/>
          </a:p>
          <a:p>
            <a:r>
              <a:rPr lang="ko-KR" altLang="en-US" sz="1600" dirty="0"/>
              <a:t>모델의 예측에 영향을</a:t>
            </a:r>
            <a:endParaRPr lang="en-US" altLang="ko-KR" sz="1600" dirty="0"/>
          </a:p>
          <a:p>
            <a:r>
              <a:rPr lang="ko-KR" altLang="en-US" sz="1600" dirty="0"/>
              <a:t>제일 많이 미침</a:t>
            </a:r>
            <a:endParaRPr lang="en-US" altLang="ko-KR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D1E70B-5FD4-4D18-9BA4-053105654C44}"/>
              </a:ext>
            </a:extLst>
          </p:cNvPr>
          <p:cNvSpPr txBox="1"/>
          <p:nvPr/>
        </p:nvSpPr>
        <p:spPr>
          <a:xfrm>
            <a:off x="8290210" y="2666995"/>
            <a:ext cx="2317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최적의 모델이 나왔다</a:t>
            </a:r>
            <a:endParaRPr lang="en-US" altLang="ko-KR" dirty="0"/>
          </a:p>
          <a:p>
            <a:r>
              <a:rPr lang="en-US" altLang="ko-KR" dirty="0" err="1"/>
              <a:t>VotingEnsemble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E456D-31C0-402F-9A24-32F4BC8603FD}"/>
              </a:ext>
            </a:extLst>
          </p:cNvPr>
          <p:cNvSpPr txBox="1"/>
          <p:nvPr/>
        </p:nvSpPr>
        <p:spPr>
          <a:xfrm>
            <a:off x="615498" y="982343"/>
            <a:ext cx="629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Review the best model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94B602-29D7-4B80-905E-857D4A12C2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4802"/>
          <a:stretch/>
        </p:blipFill>
        <p:spPr>
          <a:xfrm>
            <a:off x="6917041" y="3313326"/>
            <a:ext cx="5063518" cy="296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87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Azure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17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47B94C8-A1A3-4BD0-8D03-4C403BABB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8" y="1473488"/>
            <a:ext cx="9642135" cy="48125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C1C0D0-C372-4006-95B3-5A687B920A56}"/>
              </a:ext>
            </a:extLst>
          </p:cNvPr>
          <p:cNvSpPr txBox="1"/>
          <p:nvPr/>
        </p:nvSpPr>
        <p:spPr>
          <a:xfrm>
            <a:off x="7220479" y="2685062"/>
            <a:ext cx="4028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알고리즘 성능 세부정보를 볼 수 있음</a:t>
            </a:r>
            <a:r>
              <a:rPr lang="en-US" altLang="ko-KR" b="0" i="0" dirty="0" err="1">
                <a:solidFill>
                  <a:srgbClr val="373737"/>
                </a:solidFill>
                <a:effectLst/>
                <a:latin typeface="Segoe UI" panose="020B0502040204020203" pitchFamily="34" charset="0"/>
              </a:rPr>
              <a:t>MaxAbsScaler</a:t>
            </a:r>
            <a:r>
              <a:rPr lang="en-US" altLang="ko-KR" b="0" i="0" dirty="0">
                <a:solidFill>
                  <a:srgbClr val="373737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en-US" altLang="ko-KR" b="0" i="0" dirty="0" err="1">
                <a:solidFill>
                  <a:srgbClr val="373737"/>
                </a:solidFill>
                <a:effectLst/>
                <a:latin typeface="Segoe UI" panose="020B0502040204020203" pitchFamily="34" charset="0"/>
              </a:rPr>
              <a:t>LightGBM</a:t>
            </a:r>
            <a:r>
              <a:rPr lang="en-US" altLang="ko-KR" b="0" i="0" dirty="0">
                <a:solidFill>
                  <a:srgbClr val="373737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ko-KR" altLang="en-US" b="0" i="0" dirty="0">
                <a:solidFill>
                  <a:srgbClr val="373737"/>
                </a:solidFill>
                <a:effectLst/>
                <a:latin typeface="Segoe UI" panose="020B0502040204020203" pitchFamily="34" charset="0"/>
              </a:rPr>
              <a:t>예시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BD6095-A508-4775-8CA7-26D3F4A5BC64}"/>
              </a:ext>
            </a:extLst>
          </p:cNvPr>
          <p:cNvSpPr txBox="1"/>
          <p:nvPr/>
        </p:nvSpPr>
        <p:spPr>
          <a:xfrm>
            <a:off x="615498" y="982343"/>
            <a:ext cx="629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Review the best model</a:t>
            </a:r>
          </a:p>
        </p:txBody>
      </p:sp>
    </p:spTree>
    <p:extLst>
      <p:ext uri="{BB962C8B-B14F-4D97-AF65-F5344CB8AC3E}">
        <p14:creationId xmlns:p14="http://schemas.microsoft.com/office/powerpoint/2010/main" val="4235323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Azure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18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C2CE319-3C23-4A3B-A721-2B21005DD423}"/>
              </a:ext>
            </a:extLst>
          </p:cNvPr>
          <p:cNvGrpSpPr/>
          <p:nvPr/>
        </p:nvGrpSpPr>
        <p:grpSpPr>
          <a:xfrm>
            <a:off x="389445" y="1769273"/>
            <a:ext cx="7694027" cy="4421767"/>
            <a:chOff x="258236" y="852270"/>
            <a:chExt cx="9563100" cy="549592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D6FAE8E-1F32-4888-8953-79DCD76D8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236" y="852270"/>
              <a:ext cx="9563100" cy="5495925"/>
            </a:xfrm>
            <a:prstGeom prst="rect">
              <a:avLst/>
            </a:prstGeom>
          </p:spPr>
        </p:pic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B46357EE-AFAF-4C1D-A360-815880561DB9}"/>
                </a:ext>
              </a:extLst>
            </p:cNvPr>
            <p:cNvSpPr/>
            <p:nvPr/>
          </p:nvSpPr>
          <p:spPr>
            <a:xfrm>
              <a:off x="1314450" y="1181100"/>
              <a:ext cx="771525" cy="59055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0DFB75-AB6B-496B-BFEB-6A8450B3B9E9}"/>
              </a:ext>
            </a:extLst>
          </p:cNvPr>
          <p:cNvGrpSpPr/>
          <p:nvPr/>
        </p:nvGrpSpPr>
        <p:grpSpPr>
          <a:xfrm>
            <a:off x="3485328" y="1586903"/>
            <a:ext cx="3131098" cy="4357160"/>
            <a:chOff x="2085975" y="927899"/>
            <a:chExt cx="3513727" cy="488961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A79EFCF-5080-43EA-8107-F880FA738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5975" y="927899"/>
              <a:ext cx="3513727" cy="4889617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F56C9C8-E17E-4856-A0AB-3E53A2C1BD77}"/>
                </a:ext>
              </a:extLst>
            </p:cNvPr>
            <p:cNvSpPr/>
            <p:nvPr/>
          </p:nvSpPr>
          <p:spPr>
            <a:xfrm>
              <a:off x="2291395" y="2359694"/>
              <a:ext cx="1271314" cy="331748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DAE5969-B041-491A-BFDE-AE1D89CD22D0}"/>
              </a:ext>
            </a:extLst>
          </p:cNvPr>
          <p:cNvSpPr txBox="1"/>
          <p:nvPr/>
        </p:nvSpPr>
        <p:spPr>
          <a:xfrm>
            <a:off x="615498" y="982343"/>
            <a:ext cx="629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Deploy the best model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79B469A-EEFE-407E-B349-36847DCD2540}"/>
              </a:ext>
            </a:extLst>
          </p:cNvPr>
          <p:cNvGrpSpPr/>
          <p:nvPr/>
        </p:nvGrpSpPr>
        <p:grpSpPr>
          <a:xfrm>
            <a:off x="6640711" y="1257598"/>
            <a:ext cx="4312063" cy="4646826"/>
            <a:chOff x="5082583" y="652461"/>
            <a:chExt cx="5153025" cy="5553075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6988FE50-E1FA-4595-BB75-3F21DF4F7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2583" y="652461"/>
              <a:ext cx="5153025" cy="5553075"/>
            </a:xfrm>
            <a:prstGeom prst="rect">
              <a:avLst/>
            </a:prstGeom>
          </p:spPr>
        </p:pic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2F42176-773B-4198-8D17-DD208DC609E2}"/>
                </a:ext>
              </a:extLst>
            </p:cNvPr>
            <p:cNvSpPr/>
            <p:nvPr/>
          </p:nvSpPr>
          <p:spPr>
            <a:xfrm>
              <a:off x="5288003" y="5225189"/>
              <a:ext cx="2703472" cy="7805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E1E300E-E8C7-472E-B7F8-18ED4C81B56F}"/>
              </a:ext>
            </a:extLst>
          </p:cNvPr>
          <p:cNvSpPr txBox="1"/>
          <p:nvPr/>
        </p:nvSpPr>
        <p:spPr>
          <a:xfrm>
            <a:off x="2138527" y="5491876"/>
            <a:ext cx="447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Azure</a:t>
            </a:r>
            <a:r>
              <a:rPr lang="ko-KR" altLang="en-US" sz="1600" dirty="0"/>
              <a:t>에서는</a:t>
            </a:r>
            <a:endParaRPr lang="en-US" altLang="ko-KR" sz="1600" dirty="0"/>
          </a:p>
          <a:p>
            <a:r>
              <a:rPr lang="en-US" altLang="ko-KR" sz="1600" dirty="0"/>
              <a:t>ACI(Azure Container Instances) </a:t>
            </a:r>
            <a:r>
              <a:rPr lang="ko-KR" altLang="en-US" sz="1600" dirty="0"/>
              <a:t>또는</a:t>
            </a:r>
            <a:endParaRPr lang="en-US" altLang="ko-KR" sz="1600" dirty="0"/>
          </a:p>
          <a:p>
            <a:r>
              <a:rPr lang="en-US" altLang="ko-KR" sz="1600" dirty="0"/>
              <a:t>AKS(Azure</a:t>
            </a:r>
            <a:r>
              <a:rPr lang="ko-KR" altLang="en-US" sz="1600" dirty="0"/>
              <a:t> </a:t>
            </a:r>
            <a:r>
              <a:rPr lang="en-US" altLang="ko-KR" sz="1600" dirty="0"/>
              <a:t>Kubernetes</a:t>
            </a:r>
            <a:r>
              <a:rPr lang="ko-KR" altLang="en-US" sz="1600" dirty="0"/>
              <a:t> </a:t>
            </a:r>
            <a:r>
              <a:rPr lang="en-US" altLang="ko-KR" sz="1600" dirty="0"/>
              <a:t>Service) </a:t>
            </a:r>
            <a:r>
              <a:rPr lang="ko-KR" altLang="en-US" sz="1600" dirty="0"/>
              <a:t>클러스터로 배포</a:t>
            </a:r>
          </a:p>
        </p:txBody>
      </p:sp>
    </p:spTree>
    <p:extLst>
      <p:ext uri="{BB962C8B-B14F-4D97-AF65-F5344CB8AC3E}">
        <p14:creationId xmlns:p14="http://schemas.microsoft.com/office/powerpoint/2010/main" val="1484064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Azure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19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E966A007-C784-424C-B6BA-A02A70D5A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77" y="1790700"/>
            <a:ext cx="4826126" cy="453346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B14A74C-230B-44DC-BB65-4F4564551F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43" t="23076" r="56161"/>
          <a:stretch/>
        </p:blipFill>
        <p:spPr>
          <a:xfrm>
            <a:off x="4717804" y="1095406"/>
            <a:ext cx="3664195" cy="527544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DAE5969-B041-491A-BFDE-AE1D89CD22D0}"/>
              </a:ext>
            </a:extLst>
          </p:cNvPr>
          <p:cNvSpPr txBox="1"/>
          <p:nvPr/>
        </p:nvSpPr>
        <p:spPr>
          <a:xfrm>
            <a:off x="615498" y="982343"/>
            <a:ext cx="629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Test the 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C8ADC9-3B41-4338-AB22-703EFF96A2AE}"/>
              </a:ext>
            </a:extLst>
          </p:cNvPr>
          <p:cNvSpPr txBox="1"/>
          <p:nvPr/>
        </p:nvSpPr>
        <p:spPr>
          <a:xfrm>
            <a:off x="1290604" y="5015684"/>
            <a:ext cx="3192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모델을 </a:t>
            </a:r>
            <a:r>
              <a:rPr lang="en-US" altLang="ko-KR" sz="1600" dirty="0"/>
              <a:t>REST </a:t>
            </a:r>
            <a:r>
              <a:rPr lang="ko-KR" altLang="en-US" sz="1600" dirty="0" err="1"/>
              <a:t>엔드포인트로</a:t>
            </a:r>
            <a:r>
              <a:rPr lang="ko-KR" altLang="en-US" sz="1600" dirty="0"/>
              <a:t> 배포 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151B60-9BE3-4D25-AD58-A48B5128E86F}"/>
              </a:ext>
            </a:extLst>
          </p:cNvPr>
          <p:cNvSpPr txBox="1"/>
          <p:nvPr/>
        </p:nvSpPr>
        <p:spPr>
          <a:xfrm>
            <a:off x="258236" y="6538282"/>
            <a:ext cx="71903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https://docs.microsoft.com/ko-kr/learn/modules/use-automated-machine-learning/deploy-model</a:t>
            </a:r>
            <a:endParaRPr lang="ko-KR" altLang="en-US" sz="11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542FD44-915C-4A61-8147-AF05A572819B}"/>
              </a:ext>
            </a:extLst>
          </p:cNvPr>
          <p:cNvGrpSpPr/>
          <p:nvPr/>
        </p:nvGrpSpPr>
        <p:grpSpPr>
          <a:xfrm>
            <a:off x="7385500" y="1048713"/>
            <a:ext cx="4438649" cy="5359914"/>
            <a:chOff x="5048024" y="1048713"/>
            <a:chExt cx="4438649" cy="535991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0B891E8-0112-456E-AF13-C7E80B9645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162"/>
            <a:stretch/>
          </p:blipFill>
          <p:spPr>
            <a:xfrm>
              <a:off x="5048024" y="1048713"/>
              <a:ext cx="4438649" cy="5275448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6499780-A459-4D34-ACB8-7447433E5355}"/>
                </a:ext>
              </a:extLst>
            </p:cNvPr>
            <p:cNvSpPr/>
            <p:nvPr/>
          </p:nvSpPr>
          <p:spPr>
            <a:xfrm>
              <a:off x="5715000" y="1845289"/>
              <a:ext cx="2666999" cy="2317136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new</a:t>
              </a:r>
              <a:r>
                <a:rPr lang="ko-KR" altLang="en-US" sz="1400" dirty="0">
                  <a:solidFill>
                    <a:schemeClr val="tx1"/>
                  </a:solidFill>
                </a:rPr>
                <a:t> 데이터를 넣어서 테스트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AB2A412-CC3B-4CC9-BB88-C61BA5217F40}"/>
                </a:ext>
              </a:extLst>
            </p:cNvPr>
            <p:cNvSpPr/>
            <p:nvPr/>
          </p:nvSpPr>
          <p:spPr>
            <a:xfrm>
              <a:off x="5460823" y="6008517"/>
              <a:ext cx="3622363" cy="400110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r>
                <a:rPr lang="en-US" altLang="ko-KR" sz="1400" dirty="0">
                  <a:solidFill>
                    <a:schemeClr val="tx1"/>
                  </a:solidFill>
                </a:rPr>
                <a:t>New </a:t>
              </a:r>
              <a:r>
                <a:rPr lang="ko-KR" altLang="en-US" sz="1400" dirty="0">
                  <a:solidFill>
                    <a:schemeClr val="tx1"/>
                  </a:solidFill>
                </a:rPr>
                <a:t>데이터의 </a:t>
              </a:r>
              <a:r>
                <a:rPr lang="ko-KR" altLang="en-US" sz="1400" dirty="0" err="1">
                  <a:solidFill>
                    <a:schemeClr val="tx1"/>
                  </a:solidFill>
                </a:rPr>
                <a:t>예측값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670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49808F-691A-430D-819E-0DFB0136E163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CB85D-0579-4FBF-BC25-9BCE46464D45}"/>
              </a:ext>
            </a:extLst>
          </p:cNvPr>
          <p:cNvSpPr txBox="1"/>
          <p:nvPr/>
        </p:nvSpPr>
        <p:spPr>
          <a:xfrm>
            <a:off x="258236" y="290608"/>
            <a:ext cx="812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Azure</a:t>
            </a:r>
            <a:endParaRPr lang="ko-KR" altLang="en-US" sz="28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CDF58-FAA8-4E6B-BB94-393A696E563C}"/>
              </a:ext>
            </a:extLst>
          </p:cNvPr>
          <p:cNvCxnSpPr>
            <a:cxnSpLocks/>
          </p:cNvCxnSpPr>
          <p:nvPr/>
        </p:nvCxnSpPr>
        <p:spPr>
          <a:xfrm>
            <a:off x="302196" y="766532"/>
            <a:ext cx="11514664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CF87E365-5840-4B7D-B967-F2C9E86E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525"/>
            <a:ext cx="2743200" cy="365125"/>
          </a:xfrm>
        </p:spPr>
        <p:txBody>
          <a:bodyPr/>
          <a:lstStyle/>
          <a:p>
            <a:fld id="{97237847-E921-4C01-8354-BEEDB063B9F9}" type="slidenum">
              <a:rPr lang="ko-KR" altLang="en-US" smtClean="0">
                <a:solidFill>
                  <a:schemeClr val="tx1"/>
                </a:solidFill>
              </a:rPr>
              <a:pPr/>
              <a:t>20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932FA26-824A-453C-84A7-CD771E749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781" y="2877423"/>
            <a:ext cx="7594955" cy="34725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7985B2-4E0B-406D-B8BB-7655E5DDF2FC}"/>
              </a:ext>
            </a:extLst>
          </p:cNvPr>
          <p:cNvSpPr txBox="1"/>
          <p:nvPr/>
        </p:nvSpPr>
        <p:spPr>
          <a:xfrm>
            <a:off x="615498" y="982343"/>
            <a:ext cx="629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Test the model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C4DEE4-8286-466B-A459-8A8D80BD3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6" y="1702920"/>
            <a:ext cx="4750486" cy="13598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35C70E-E223-4BC4-9CF1-055E1985D81C}"/>
              </a:ext>
            </a:extLst>
          </p:cNvPr>
          <p:cNvSpPr txBox="1"/>
          <p:nvPr/>
        </p:nvSpPr>
        <p:spPr>
          <a:xfrm>
            <a:off x="373616" y="4955025"/>
            <a:ext cx="11257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실시간 </a:t>
            </a:r>
            <a:r>
              <a:rPr lang="en-US" altLang="ko-KR" sz="2000" b="1" dirty="0"/>
              <a:t>API</a:t>
            </a:r>
            <a:r>
              <a:rPr lang="ko-KR" altLang="en-US" sz="2000" b="1" dirty="0"/>
              <a:t> 데이터 받아서 </a:t>
            </a:r>
            <a:r>
              <a:rPr lang="ko-KR" altLang="en-US" sz="2000" b="1" dirty="0" err="1"/>
              <a:t>모니터링하는거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시각화</a:t>
            </a:r>
            <a:r>
              <a:rPr lang="en-US" altLang="ko-KR" sz="2000" b="1" dirty="0"/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Auto ML + </a:t>
            </a:r>
            <a:r>
              <a:rPr lang="ko-KR" altLang="en-US" sz="2000" b="1" dirty="0"/>
              <a:t>알고리즘 코드작성해서</a:t>
            </a:r>
            <a:r>
              <a:rPr lang="en-US" altLang="ko-KR" sz="2000" b="1" dirty="0"/>
              <a:t>(+ </a:t>
            </a:r>
            <a:r>
              <a:rPr lang="en-US" altLang="ko-KR" sz="2000" b="1" dirty="0" err="1"/>
              <a:t>t-square</a:t>
            </a:r>
            <a:r>
              <a:rPr lang="en-US" altLang="ko-KR" sz="2000" b="1" dirty="0"/>
              <a:t>, MSET,</a:t>
            </a:r>
            <a:r>
              <a:rPr lang="ko-KR" altLang="en-US" sz="2000" b="1" dirty="0"/>
              <a:t>수명예측</a:t>
            </a:r>
            <a:r>
              <a:rPr lang="en-US" altLang="ko-KR" sz="2000" b="1" dirty="0"/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Azure</a:t>
            </a:r>
            <a:r>
              <a:rPr lang="ko-KR" altLang="en-US" sz="2000" b="1" dirty="0"/>
              <a:t>는 </a:t>
            </a:r>
            <a:r>
              <a:rPr lang="ko-KR" altLang="en-US" sz="2000" b="1" dirty="0" err="1"/>
              <a:t>유료니까</a:t>
            </a:r>
            <a:r>
              <a:rPr lang="ko-KR" altLang="en-US" sz="2000" b="1" dirty="0"/>
              <a:t> 실제 기업에서 쓰는 가치가 있는지</a:t>
            </a:r>
            <a:endParaRPr lang="en-US" altLang="ko-KR" sz="2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목표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어떤 서비스 개발</a:t>
            </a:r>
            <a:r>
              <a:rPr lang="en-US" altLang="ko-KR" sz="2000" b="1" dirty="0"/>
              <a:t>?(ex.</a:t>
            </a:r>
            <a:r>
              <a:rPr lang="ko-KR" altLang="en-US" sz="2000" b="1" dirty="0"/>
              <a:t>수요</a:t>
            </a:r>
            <a:r>
              <a:rPr lang="en-US" altLang="ko-KR" sz="2000" b="1" dirty="0"/>
              <a:t>,</a:t>
            </a:r>
            <a:r>
              <a:rPr lang="ko-KR" altLang="en-US" sz="2000" b="1" dirty="0"/>
              <a:t>재고 예측 모니터링</a:t>
            </a:r>
            <a:r>
              <a:rPr lang="en-US" altLang="ko-KR" sz="2000" b="1" dirty="0"/>
              <a:t>,</a:t>
            </a:r>
            <a:r>
              <a:rPr lang="ko-KR" altLang="en-US" sz="2000" b="1" dirty="0"/>
              <a:t>에너지 수요</a:t>
            </a:r>
            <a:r>
              <a:rPr lang="en-US" altLang="ko-KR" sz="2000" b="1" dirty="0"/>
              <a:t>,</a:t>
            </a:r>
            <a:r>
              <a:rPr lang="ko-KR" altLang="en-US" sz="2000" b="1" dirty="0"/>
              <a:t>제조공정 쪽 데이터로 이상감지 모니터링</a:t>
            </a:r>
            <a:r>
              <a:rPr lang="en-US" altLang="ko-KR" sz="2000" b="1" dirty="0"/>
              <a:t>)/user</a:t>
            </a:r>
            <a:r>
              <a:rPr lang="ko-KR" altLang="en-US" sz="2000" b="1" dirty="0"/>
              <a:t>가 누구일지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3542051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F8052-2C41-437E-82E0-B5FF97915D00}"/>
              </a:ext>
            </a:extLst>
          </p:cNvPr>
          <p:cNvSpPr txBox="1"/>
          <p:nvPr/>
        </p:nvSpPr>
        <p:spPr>
          <a:xfrm>
            <a:off x="807326" y="2110165"/>
            <a:ext cx="10839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+mj-lt"/>
                <a:ea typeface="나눔스퀘어OTF_ac ExtraBold" panose="020B0600000101010101" pitchFamily="34" charset="-127"/>
                <a:cs typeface="Arial" panose="020B0604020202020204" pitchFamily="34" charset="0"/>
              </a:rPr>
              <a:t>Thank You</a:t>
            </a:r>
            <a:endParaRPr lang="ko-KR" altLang="ko-KR" sz="3200" b="1" dirty="0">
              <a:latin typeface="+mj-lt"/>
              <a:ea typeface="나눔스퀘어OTF_ac Extra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705454BF-E5B3-4F46-91BC-8EC74E006D66}"/>
              </a:ext>
            </a:extLst>
          </p:cNvPr>
          <p:cNvSpPr/>
          <p:nvPr/>
        </p:nvSpPr>
        <p:spPr>
          <a:xfrm>
            <a:off x="1885898" y="1736942"/>
            <a:ext cx="8681901" cy="55060"/>
          </a:xfrm>
          <a:custGeom>
            <a:avLst/>
            <a:gdLst/>
            <a:ahLst/>
            <a:cxnLst/>
            <a:rect l="l" t="t" r="r" b="b"/>
            <a:pathLst>
              <a:path w="8935720" h="41910">
                <a:moveTo>
                  <a:pt x="8935211" y="41910"/>
                </a:moveTo>
                <a:lnTo>
                  <a:pt x="8935211" y="0"/>
                </a:lnTo>
                <a:lnTo>
                  <a:pt x="0" y="0"/>
                </a:lnTo>
                <a:lnTo>
                  <a:pt x="0" y="41910"/>
                </a:lnTo>
                <a:lnTo>
                  <a:pt x="8935211" y="41910"/>
                </a:lnTo>
                <a:close/>
              </a:path>
            </a:pathLst>
          </a:custGeom>
          <a:solidFill>
            <a:srgbClr val="213965"/>
          </a:solidFill>
          <a:ln>
            <a:solidFill>
              <a:srgbClr val="203864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29A82A0-1B59-4AFC-B91D-948238362160}"/>
              </a:ext>
            </a:extLst>
          </p:cNvPr>
          <p:cNvSpPr/>
          <p:nvPr/>
        </p:nvSpPr>
        <p:spPr>
          <a:xfrm>
            <a:off x="1885898" y="2945313"/>
            <a:ext cx="8681901" cy="55060"/>
          </a:xfrm>
          <a:custGeom>
            <a:avLst/>
            <a:gdLst/>
            <a:ahLst/>
            <a:cxnLst/>
            <a:rect l="l" t="t" r="r" b="b"/>
            <a:pathLst>
              <a:path w="8935720" h="41910">
                <a:moveTo>
                  <a:pt x="8935211" y="41910"/>
                </a:moveTo>
                <a:lnTo>
                  <a:pt x="8935211" y="0"/>
                </a:lnTo>
                <a:lnTo>
                  <a:pt x="0" y="0"/>
                </a:lnTo>
                <a:lnTo>
                  <a:pt x="0" y="41910"/>
                </a:lnTo>
                <a:lnTo>
                  <a:pt x="8935211" y="41910"/>
                </a:lnTo>
                <a:close/>
              </a:path>
            </a:pathLst>
          </a:custGeom>
          <a:solidFill>
            <a:srgbClr val="213965"/>
          </a:solidFill>
          <a:ln>
            <a:solidFill>
              <a:srgbClr val="203864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4A4F94-E2BF-4A49-B64F-16A9ED8D0D44}"/>
              </a:ext>
            </a:extLst>
          </p:cNvPr>
          <p:cNvSpPr/>
          <p:nvPr/>
        </p:nvSpPr>
        <p:spPr>
          <a:xfrm>
            <a:off x="0" y="6395490"/>
            <a:ext cx="12191999" cy="462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198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KoPubWorld돋움체 Bold"/>
        <a:ea typeface="KoPubWorld돋움체 Bold"/>
        <a:cs typeface=""/>
      </a:majorFont>
      <a:minorFont>
        <a:latin typeface="KoPubWorld돋움체 Medium"/>
        <a:ea typeface="KoPubWorld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2972</TotalTime>
  <Words>961</Words>
  <Application>Microsoft Office PowerPoint</Application>
  <PresentationFormat>와이드스크린</PresentationFormat>
  <Paragraphs>287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KoPubWorld돋움체 Bold</vt:lpstr>
      <vt:lpstr>KoPubWorld돋움체 Medium</vt:lpstr>
      <vt:lpstr>Arial</vt:lpstr>
      <vt:lpstr>Segoe UI</vt:lpstr>
      <vt:lpstr>Trebuchet MS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변준현(2016314018)</dc:creator>
  <cp:lastModifiedBy>김나은(2014314005)</cp:lastModifiedBy>
  <cp:revision>120</cp:revision>
  <dcterms:created xsi:type="dcterms:W3CDTF">2021-09-04T12:10:35Z</dcterms:created>
  <dcterms:modified xsi:type="dcterms:W3CDTF">2021-11-03T15:52:25Z</dcterms:modified>
</cp:coreProperties>
</file>